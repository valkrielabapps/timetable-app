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-490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E97829-5582-4896-9206-44A659C14556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11566-226F-4554-B465-A8DB20F79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91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this is for: whoever owns the timetable, and the principal who signs off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who builds the timetable at their school and how long it takes. Let them describe their own version of this file before you go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1,920 is plain arithmetic: 40 x 8 x 6. Swap in their own numbers if you know them; it lands harder.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is not speed alone. It is that a change in August stops being a crisis.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the most time on the third point. It is the reason Timetablz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if you can: ask them for a rule from their own school and type it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timetable software just fails. Showing why it failed is what earns trust from a coordinator.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schools start on Free with one section, then move to Pro once they trust the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talking after the ask. The file is the commitment: once they send it, the setup call books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56692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72237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727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Timetablz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389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389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"/>
          <p:cNvSpPr txBox="1"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Timetablz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/>
          </p:nvPr>
        </p:nvSpPr>
        <p:spPr>
          <a:xfrm>
            <a:off x="548640" y="123444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chemeClr val="tx1"/>
                </a:solidFill>
              </a:rPr>
              <a:t>The school timetable, done in an afternoon</a:t>
            </a:r>
            <a:endParaRPr lang="en-US" sz="4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3429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short walk-through for principals and timetable coordinators</a:t>
            </a:r>
            <a:endParaRPr lang="en-US" sz="1400" dirty="0"/>
          </a:p>
        </p:txBody>
      </p:sp>
      <p:sp>
        <p:nvSpPr>
          <p:cNvPr id="5" name="Cover footer"/>
          <p:cNvSpPr txBox="1"/>
          <p:nvPr/>
        </p:nvSpPr>
        <p:spPr>
          <a:xfrm>
            <a:off x="54864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 err="1" smtClean="0">
                <a:solidFill>
                  <a:schemeClr val="accent5"/>
                </a:solidFill>
              </a:rPr>
              <a:t>Timetablz</a:t>
            </a:r>
            <a:r>
              <a:rPr lang="en-US" sz="1000" dirty="0" smtClean="0">
                <a:solidFill>
                  <a:schemeClr val="accent5"/>
                </a:solidFill>
              </a:rPr>
              <a:t>  </a:t>
            </a:r>
            <a:r>
              <a:rPr lang="en-US" sz="1000" dirty="0">
                <a:solidFill>
                  <a:schemeClr val="accent5"/>
                </a:solidFill>
              </a:rPr>
              <a:t>·  2026</a:t>
            </a:r>
            <a:endParaRPr lang="en-US" sz="1000" dirty="0"/>
          </a:p>
        </p:txBody>
      </p:sp>
      <p:sp>
        <p:nvSpPr>
          <p:cNvPr id="6" name="Cover cell 0-0"/>
          <p:cNvSpPr/>
          <p:nvPr/>
        </p:nvSpPr>
        <p:spPr>
          <a:xfrm>
            <a:off x="6446520" y="1828800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Cover cell text 0-0"/>
          <p:cNvSpPr txBox="1"/>
          <p:nvPr/>
        </p:nvSpPr>
        <p:spPr>
          <a:xfrm>
            <a:off x="6446520" y="182880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Eng</a:t>
            </a:r>
            <a:endParaRPr lang="en-US" sz="1000" dirty="0"/>
          </a:p>
        </p:txBody>
      </p:sp>
      <p:sp>
        <p:nvSpPr>
          <p:cNvPr id="8" name="Cover cell 0-1"/>
          <p:cNvSpPr/>
          <p:nvPr/>
        </p:nvSpPr>
        <p:spPr>
          <a:xfrm>
            <a:off x="6976872" y="1828800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Cover cell text 0-1"/>
          <p:cNvSpPr txBox="1"/>
          <p:nvPr/>
        </p:nvSpPr>
        <p:spPr>
          <a:xfrm>
            <a:off x="6976872" y="182880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Maths</a:t>
            </a:r>
            <a:endParaRPr lang="en-US" sz="1000" dirty="0"/>
          </a:p>
        </p:txBody>
      </p:sp>
      <p:sp>
        <p:nvSpPr>
          <p:cNvPr id="10" name="Cover cell 0-2"/>
          <p:cNvSpPr/>
          <p:nvPr/>
        </p:nvSpPr>
        <p:spPr>
          <a:xfrm>
            <a:off x="7507224" y="1828800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Cover cell text 0-2"/>
          <p:cNvSpPr txBox="1"/>
          <p:nvPr/>
        </p:nvSpPr>
        <p:spPr>
          <a:xfrm>
            <a:off x="7507224" y="182880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Sci</a:t>
            </a:r>
            <a:endParaRPr lang="en-US" sz="1000" dirty="0"/>
          </a:p>
        </p:txBody>
      </p:sp>
      <p:sp>
        <p:nvSpPr>
          <p:cNvPr id="12" name="Cover cell 0-3"/>
          <p:cNvSpPr/>
          <p:nvPr/>
        </p:nvSpPr>
        <p:spPr>
          <a:xfrm>
            <a:off x="8037576" y="1828800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Cover cell text 0-3"/>
          <p:cNvSpPr txBox="1"/>
          <p:nvPr/>
        </p:nvSpPr>
        <p:spPr>
          <a:xfrm>
            <a:off x="8037576" y="182880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Hindi</a:t>
            </a:r>
            <a:endParaRPr lang="en-US" sz="1000" dirty="0"/>
          </a:p>
        </p:txBody>
      </p:sp>
      <p:sp>
        <p:nvSpPr>
          <p:cNvPr id="14" name="Cover cell 1-0"/>
          <p:cNvSpPr/>
          <p:nvPr/>
        </p:nvSpPr>
        <p:spPr>
          <a:xfrm>
            <a:off x="6446520" y="2157984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Cover cell text 1-0"/>
          <p:cNvSpPr txBox="1"/>
          <p:nvPr/>
        </p:nvSpPr>
        <p:spPr>
          <a:xfrm>
            <a:off x="6446520" y="215798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Sci</a:t>
            </a:r>
            <a:endParaRPr lang="en-US" sz="1000" dirty="0"/>
          </a:p>
        </p:txBody>
      </p:sp>
      <p:sp>
        <p:nvSpPr>
          <p:cNvPr id="16" name="Cover cell 1-1"/>
          <p:cNvSpPr/>
          <p:nvPr/>
        </p:nvSpPr>
        <p:spPr>
          <a:xfrm>
            <a:off x="6976872" y="2157984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Cover cell text 1-1"/>
          <p:cNvSpPr txBox="1"/>
          <p:nvPr/>
        </p:nvSpPr>
        <p:spPr>
          <a:xfrm>
            <a:off x="6976872" y="215798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PE</a:t>
            </a:r>
            <a:endParaRPr lang="en-US" sz="1000" dirty="0"/>
          </a:p>
        </p:txBody>
      </p:sp>
      <p:sp>
        <p:nvSpPr>
          <p:cNvPr id="18" name="Cover cell 1-2"/>
          <p:cNvSpPr/>
          <p:nvPr/>
        </p:nvSpPr>
        <p:spPr>
          <a:xfrm>
            <a:off x="7507224" y="2157984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Cover cell text 1-2"/>
          <p:cNvSpPr txBox="1"/>
          <p:nvPr/>
        </p:nvSpPr>
        <p:spPr>
          <a:xfrm>
            <a:off x="7507224" y="215798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Maths</a:t>
            </a:r>
            <a:endParaRPr lang="en-US" sz="1000" dirty="0"/>
          </a:p>
        </p:txBody>
      </p:sp>
      <p:sp>
        <p:nvSpPr>
          <p:cNvPr id="20" name="Cover cell 1-3"/>
          <p:cNvSpPr/>
          <p:nvPr/>
        </p:nvSpPr>
        <p:spPr>
          <a:xfrm>
            <a:off x="8037576" y="2157984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1" name="Cover cell text 1-3"/>
          <p:cNvSpPr txBox="1"/>
          <p:nvPr/>
        </p:nvSpPr>
        <p:spPr>
          <a:xfrm>
            <a:off x="8037576" y="215798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Eng</a:t>
            </a:r>
            <a:endParaRPr lang="en-US" sz="1000" dirty="0"/>
          </a:p>
        </p:txBody>
      </p:sp>
      <p:sp>
        <p:nvSpPr>
          <p:cNvPr id="22" name="Cover cell 2-0"/>
          <p:cNvSpPr/>
          <p:nvPr/>
        </p:nvSpPr>
        <p:spPr>
          <a:xfrm>
            <a:off x="6446520" y="2487168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Cover cell text 2-0"/>
          <p:cNvSpPr txBox="1"/>
          <p:nvPr/>
        </p:nvSpPr>
        <p:spPr>
          <a:xfrm>
            <a:off x="6446520" y="248716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Art</a:t>
            </a:r>
            <a:endParaRPr lang="en-US" sz="1000" dirty="0"/>
          </a:p>
        </p:txBody>
      </p:sp>
      <p:sp>
        <p:nvSpPr>
          <p:cNvPr id="24" name="Cover cell 2-1"/>
          <p:cNvSpPr/>
          <p:nvPr/>
        </p:nvSpPr>
        <p:spPr>
          <a:xfrm>
            <a:off x="6976872" y="2487168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5" name="Cover cell text 2-1"/>
          <p:cNvSpPr txBox="1"/>
          <p:nvPr/>
        </p:nvSpPr>
        <p:spPr>
          <a:xfrm>
            <a:off x="6976872" y="248716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Maths</a:t>
            </a:r>
            <a:endParaRPr lang="en-US" sz="1000" dirty="0"/>
          </a:p>
        </p:txBody>
      </p:sp>
      <p:sp>
        <p:nvSpPr>
          <p:cNvPr id="26" name="Cover cell 2-2"/>
          <p:cNvSpPr/>
          <p:nvPr/>
        </p:nvSpPr>
        <p:spPr>
          <a:xfrm>
            <a:off x="7507224" y="2487168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7" name="Cover cell text 2-2"/>
          <p:cNvSpPr txBox="1"/>
          <p:nvPr/>
        </p:nvSpPr>
        <p:spPr>
          <a:xfrm>
            <a:off x="7507224" y="248716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Eng</a:t>
            </a:r>
            <a:endParaRPr lang="en-US" sz="1000" dirty="0"/>
          </a:p>
        </p:txBody>
      </p:sp>
      <p:sp>
        <p:nvSpPr>
          <p:cNvPr id="28" name="Cover cell 2-3"/>
          <p:cNvSpPr/>
          <p:nvPr/>
        </p:nvSpPr>
        <p:spPr>
          <a:xfrm>
            <a:off x="8037576" y="2487168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9" name="Cover cell text 2-3"/>
          <p:cNvSpPr txBox="1"/>
          <p:nvPr/>
        </p:nvSpPr>
        <p:spPr>
          <a:xfrm>
            <a:off x="8037576" y="248716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Sci</a:t>
            </a:r>
            <a:endParaRPr lang="en-US" sz="1000" dirty="0"/>
          </a:p>
        </p:txBody>
      </p:sp>
      <p:sp>
        <p:nvSpPr>
          <p:cNvPr id="30" name="Cover cell 3-0"/>
          <p:cNvSpPr/>
          <p:nvPr/>
        </p:nvSpPr>
        <p:spPr>
          <a:xfrm>
            <a:off x="6446520" y="2816352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1" name="Cover cell text 3-0"/>
          <p:cNvSpPr txBox="1"/>
          <p:nvPr/>
        </p:nvSpPr>
        <p:spPr>
          <a:xfrm>
            <a:off x="6446520" y="281635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Maths</a:t>
            </a:r>
            <a:endParaRPr lang="en-US" sz="1000" dirty="0"/>
          </a:p>
        </p:txBody>
      </p:sp>
      <p:sp>
        <p:nvSpPr>
          <p:cNvPr id="32" name="Cover cell 3-1"/>
          <p:cNvSpPr/>
          <p:nvPr/>
        </p:nvSpPr>
        <p:spPr>
          <a:xfrm>
            <a:off x="6976872" y="2816352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3" name="Cover cell text 3-1"/>
          <p:cNvSpPr txBox="1"/>
          <p:nvPr/>
        </p:nvSpPr>
        <p:spPr>
          <a:xfrm>
            <a:off x="6976872" y="281635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Sci</a:t>
            </a:r>
            <a:endParaRPr lang="en-US" sz="1000" dirty="0"/>
          </a:p>
        </p:txBody>
      </p:sp>
      <p:sp>
        <p:nvSpPr>
          <p:cNvPr id="34" name="Cover cell 3-2"/>
          <p:cNvSpPr/>
          <p:nvPr/>
        </p:nvSpPr>
        <p:spPr>
          <a:xfrm>
            <a:off x="7507224" y="2816352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5" name="Cover cell text 3-2"/>
          <p:cNvSpPr txBox="1"/>
          <p:nvPr/>
        </p:nvSpPr>
        <p:spPr>
          <a:xfrm>
            <a:off x="7507224" y="281635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Hindi</a:t>
            </a:r>
            <a:endParaRPr lang="en-US" sz="1000" dirty="0"/>
          </a:p>
        </p:txBody>
      </p:sp>
      <p:sp>
        <p:nvSpPr>
          <p:cNvPr id="36" name="Cover cell 3-3"/>
          <p:cNvSpPr/>
          <p:nvPr/>
        </p:nvSpPr>
        <p:spPr>
          <a:xfrm>
            <a:off x="8037576" y="2816352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7" name="Cover cell text 3-3"/>
          <p:cNvSpPr txBox="1"/>
          <p:nvPr/>
        </p:nvSpPr>
        <p:spPr>
          <a:xfrm>
            <a:off x="8037576" y="281635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Eng</a:t>
            </a:r>
            <a:endParaRPr lang="en-US" sz="1000" dirty="0"/>
          </a:p>
        </p:txBody>
      </p:sp>
      <p:sp>
        <p:nvSpPr>
          <p:cNvPr id="38" name="Cover cell 4-0"/>
          <p:cNvSpPr/>
          <p:nvPr/>
        </p:nvSpPr>
        <p:spPr>
          <a:xfrm>
            <a:off x="6446520" y="3145536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9" name="Cover cell text 4-0"/>
          <p:cNvSpPr txBox="1"/>
          <p:nvPr/>
        </p:nvSpPr>
        <p:spPr>
          <a:xfrm>
            <a:off x="6446520" y="314553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PE</a:t>
            </a:r>
            <a:endParaRPr lang="en-US" sz="1000" dirty="0"/>
          </a:p>
        </p:txBody>
      </p:sp>
      <p:sp>
        <p:nvSpPr>
          <p:cNvPr id="40" name="Cover cell 4-1"/>
          <p:cNvSpPr/>
          <p:nvPr/>
        </p:nvSpPr>
        <p:spPr>
          <a:xfrm>
            <a:off x="6976872" y="3145536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1" name="Cover cell text 4-1"/>
          <p:cNvSpPr txBox="1"/>
          <p:nvPr/>
        </p:nvSpPr>
        <p:spPr>
          <a:xfrm>
            <a:off x="6976872" y="314553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Eng</a:t>
            </a:r>
            <a:endParaRPr lang="en-US" sz="1000" dirty="0"/>
          </a:p>
        </p:txBody>
      </p:sp>
      <p:sp>
        <p:nvSpPr>
          <p:cNvPr id="42" name="Cover cell 4-2"/>
          <p:cNvSpPr/>
          <p:nvPr/>
        </p:nvSpPr>
        <p:spPr>
          <a:xfrm>
            <a:off x="7507224" y="3145536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3" name="Cover cell text 4-2"/>
          <p:cNvSpPr txBox="1"/>
          <p:nvPr/>
        </p:nvSpPr>
        <p:spPr>
          <a:xfrm>
            <a:off x="7507224" y="314553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Maths</a:t>
            </a:r>
            <a:endParaRPr lang="en-US" sz="1000" dirty="0"/>
          </a:p>
        </p:txBody>
      </p:sp>
      <p:sp>
        <p:nvSpPr>
          <p:cNvPr id="44" name="Cover cell 4-3"/>
          <p:cNvSpPr/>
          <p:nvPr/>
        </p:nvSpPr>
        <p:spPr>
          <a:xfrm>
            <a:off x="8037576" y="3145536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5" name="Cover cell text 4-3"/>
          <p:cNvSpPr txBox="1"/>
          <p:nvPr/>
        </p:nvSpPr>
        <p:spPr>
          <a:xfrm>
            <a:off x="8037576" y="314553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Art</a:t>
            </a:r>
            <a:endParaRPr lang="en-US" sz="1000" dirty="0"/>
          </a:p>
        </p:txBody>
      </p:sp>
      <p:sp>
        <p:nvSpPr>
          <p:cNvPr id="46" name="Cover cell 5-0"/>
          <p:cNvSpPr/>
          <p:nvPr/>
        </p:nvSpPr>
        <p:spPr>
          <a:xfrm>
            <a:off x="6446520" y="3474720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7" name="Cover cell text 5-0"/>
          <p:cNvSpPr txBox="1"/>
          <p:nvPr/>
        </p:nvSpPr>
        <p:spPr>
          <a:xfrm>
            <a:off x="6446520" y="347472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Hindi</a:t>
            </a:r>
            <a:endParaRPr lang="en-US" sz="1000" dirty="0"/>
          </a:p>
        </p:txBody>
      </p:sp>
      <p:sp>
        <p:nvSpPr>
          <p:cNvPr id="48" name="Cover cell 5-1"/>
          <p:cNvSpPr/>
          <p:nvPr/>
        </p:nvSpPr>
        <p:spPr>
          <a:xfrm>
            <a:off x="6976872" y="3474720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9" name="Cover cell text 5-1"/>
          <p:cNvSpPr txBox="1"/>
          <p:nvPr/>
        </p:nvSpPr>
        <p:spPr>
          <a:xfrm>
            <a:off x="6976872" y="347472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Maths</a:t>
            </a:r>
            <a:endParaRPr lang="en-US" sz="1000" dirty="0"/>
          </a:p>
        </p:txBody>
      </p:sp>
      <p:sp>
        <p:nvSpPr>
          <p:cNvPr id="50" name="Cover cell 5-2"/>
          <p:cNvSpPr/>
          <p:nvPr/>
        </p:nvSpPr>
        <p:spPr>
          <a:xfrm>
            <a:off x="7507224" y="3474720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1" name="Cover cell text 5-2"/>
          <p:cNvSpPr txBox="1"/>
          <p:nvPr/>
        </p:nvSpPr>
        <p:spPr>
          <a:xfrm>
            <a:off x="7507224" y="347472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Sci</a:t>
            </a:r>
            <a:endParaRPr lang="en-US" sz="1000" dirty="0"/>
          </a:p>
        </p:txBody>
      </p:sp>
      <p:sp>
        <p:nvSpPr>
          <p:cNvPr id="52" name="Cover cell 5-3"/>
          <p:cNvSpPr/>
          <p:nvPr/>
        </p:nvSpPr>
        <p:spPr>
          <a:xfrm>
            <a:off x="8037576" y="3474720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3" name="Cover cell text 5-3"/>
          <p:cNvSpPr txBox="1"/>
          <p:nvPr/>
        </p:nvSpPr>
        <p:spPr>
          <a:xfrm>
            <a:off x="8037576" y="347472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Eng</a:t>
            </a:r>
            <a:endParaRPr lang="en-US" sz="1000" dirty="0"/>
          </a:p>
        </p:txBody>
      </p:sp>
      <p:sp>
        <p:nvSpPr>
          <p:cNvPr id="54" name="Cover cell 6-0"/>
          <p:cNvSpPr/>
          <p:nvPr/>
        </p:nvSpPr>
        <p:spPr>
          <a:xfrm>
            <a:off x="6446520" y="3803904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5" name="Cover cell text 6-0"/>
          <p:cNvSpPr txBox="1"/>
          <p:nvPr/>
        </p:nvSpPr>
        <p:spPr>
          <a:xfrm>
            <a:off x="6446520" y="380390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Sci</a:t>
            </a:r>
            <a:endParaRPr lang="en-US" sz="1000" dirty="0"/>
          </a:p>
        </p:txBody>
      </p:sp>
      <p:sp>
        <p:nvSpPr>
          <p:cNvPr id="56" name="Cover cell 6-1"/>
          <p:cNvSpPr/>
          <p:nvPr/>
        </p:nvSpPr>
        <p:spPr>
          <a:xfrm>
            <a:off x="6976872" y="3803904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7" name="Cover cell text 6-1"/>
          <p:cNvSpPr txBox="1"/>
          <p:nvPr/>
        </p:nvSpPr>
        <p:spPr>
          <a:xfrm>
            <a:off x="6976872" y="380390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Eng</a:t>
            </a:r>
            <a:endParaRPr lang="en-US" sz="1000" dirty="0"/>
          </a:p>
        </p:txBody>
      </p:sp>
      <p:sp>
        <p:nvSpPr>
          <p:cNvPr id="58" name="Cover cell 6-2"/>
          <p:cNvSpPr/>
          <p:nvPr/>
        </p:nvSpPr>
        <p:spPr>
          <a:xfrm>
            <a:off x="7507224" y="3803904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9" name="Cover cell text 6-2"/>
          <p:cNvSpPr txBox="1"/>
          <p:nvPr/>
        </p:nvSpPr>
        <p:spPr>
          <a:xfrm>
            <a:off x="7507224" y="380390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PE</a:t>
            </a:r>
            <a:endParaRPr lang="en-US" sz="1000" dirty="0"/>
          </a:p>
        </p:txBody>
      </p:sp>
      <p:sp>
        <p:nvSpPr>
          <p:cNvPr id="60" name="Cover cell 6-3"/>
          <p:cNvSpPr/>
          <p:nvPr/>
        </p:nvSpPr>
        <p:spPr>
          <a:xfrm>
            <a:off x="8037576" y="3803904"/>
            <a:ext cx="530352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1" name="Cover cell text 6-3"/>
          <p:cNvSpPr txBox="1"/>
          <p:nvPr/>
        </p:nvSpPr>
        <p:spPr>
          <a:xfrm>
            <a:off x="8037576" y="380390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Maths</a:t>
            </a:r>
            <a:endParaRPr lang="en-US" sz="1000" dirty="0"/>
          </a:p>
        </p:txBody>
      </p:sp>
      <p:sp>
        <p:nvSpPr>
          <p:cNvPr id="62" name="Cover red circle"/>
          <p:cNvSpPr/>
          <p:nvPr/>
        </p:nvSpPr>
        <p:spPr>
          <a:xfrm rot="-240000">
            <a:off x="6903720" y="2761488"/>
            <a:ext cx="676656" cy="438912"/>
          </a:xfrm>
          <a:prstGeom prst="ellipse">
            <a:avLst/>
          </a:prstGeom>
          <a:solidFill>
            <a:schemeClr val="bg1">
              <a:alpha val="0"/>
            </a:schemeClr>
          </a:solidFill>
          <a:ln w="22225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</a:rPr>
              <a:t>28 May, 9:40 pm. The timetable is open again</a:t>
            </a:r>
            <a:endParaRPr lang="en-US" sz="2800" dirty="0"/>
          </a:p>
        </p:txBody>
      </p:sp>
      <p:sp>
        <p:nvSpPr>
          <p:cNvPr id="3" name="Col head 0"/>
          <p:cNvSpPr/>
          <p:nvPr/>
        </p:nvSpPr>
        <p:spPr>
          <a:xfrm>
            <a:off x="548640" y="1463040"/>
            <a:ext cx="274320" cy="201168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4" name="Col letter 0"/>
          <p:cNvSpPr txBox="1"/>
          <p:nvPr/>
        </p:nvSpPr>
        <p:spPr>
          <a:xfrm>
            <a:off x="548640" y="14630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" name="Col head 1"/>
          <p:cNvSpPr/>
          <p:nvPr/>
        </p:nvSpPr>
        <p:spPr>
          <a:xfrm>
            <a:off x="822960" y="1463040"/>
            <a:ext cx="502920" cy="201168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" name="Col letter 1"/>
          <p:cNvSpPr txBox="1"/>
          <p:nvPr/>
        </p:nvSpPr>
        <p:spPr>
          <a:xfrm>
            <a:off x="822960" y="1463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A</a:t>
            </a:r>
            <a:endParaRPr lang="en-US" sz="1000" dirty="0"/>
          </a:p>
        </p:txBody>
      </p:sp>
      <p:sp>
        <p:nvSpPr>
          <p:cNvPr id="7" name="Col head 2"/>
          <p:cNvSpPr/>
          <p:nvPr/>
        </p:nvSpPr>
        <p:spPr>
          <a:xfrm>
            <a:off x="1325880" y="1463040"/>
            <a:ext cx="658368" cy="201168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" name="Col letter 2"/>
          <p:cNvSpPr txBox="1"/>
          <p:nvPr/>
        </p:nvSpPr>
        <p:spPr>
          <a:xfrm>
            <a:off x="1325880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B</a:t>
            </a:r>
            <a:endParaRPr lang="en-US" sz="1000" dirty="0"/>
          </a:p>
        </p:txBody>
      </p:sp>
      <p:sp>
        <p:nvSpPr>
          <p:cNvPr id="9" name="Col head 3"/>
          <p:cNvSpPr/>
          <p:nvPr/>
        </p:nvSpPr>
        <p:spPr>
          <a:xfrm>
            <a:off x="1984248" y="1463040"/>
            <a:ext cx="658368" cy="201168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0" name="Col letter 3"/>
          <p:cNvSpPr txBox="1"/>
          <p:nvPr/>
        </p:nvSpPr>
        <p:spPr>
          <a:xfrm>
            <a:off x="1984248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C</a:t>
            </a:r>
            <a:endParaRPr lang="en-US" sz="1000" dirty="0"/>
          </a:p>
        </p:txBody>
      </p:sp>
      <p:sp>
        <p:nvSpPr>
          <p:cNvPr id="11" name="Col head 4"/>
          <p:cNvSpPr/>
          <p:nvPr/>
        </p:nvSpPr>
        <p:spPr>
          <a:xfrm>
            <a:off x="2642616" y="1463040"/>
            <a:ext cx="658368" cy="201168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2" name="Col letter 4"/>
          <p:cNvSpPr txBox="1"/>
          <p:nvPr/>
        </p:nvSpPr>
        <p:spPr>
          <a:xfrm>
            <a:off x="2642616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D</a:t>
            </a:r>
            <a:endParaRPr lang="en-US" sz="1000" dirty="0"/>
          </a:p>
        </p:txBody>
      </p:sp>
      <p:sp>
        <p:nvSpPr>
          <p:cNvPr id="13" name="Col head 5"/>
          <p:cNvSpPr/>
          <p:nvPr/>
        </p:nvSpPr>
        <p:spPr>
          <a:xfrm>
            <a:off x="3300984" y="1463040"/>
            <a:ext cx="658368" cy="201168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4" name="Col letter 5"/>
          <p:cNvSpPr txBox="1"/>
          <p:nvPr/>
        </p:nvSpPr>
        <p:spPr>
          <a:xfrm>
            <a:off x="3300984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E</a:t>
            </a:r>
            <a:endParaRPr lang="en-US" sz="1000" dirty="0"/>
          </a:p>
        </p:txBody>
      </p:sp>
      <p:sp>
        <p:nvSpPr>
          <p:cNvPr id="15" name="Col head 6"/>
          <p:cNvSpPr/>
          <p:nvPr/>
        </p:nvSpPr>
        <p:spPr>
          <a:xfrm>
            <a:off x="3959352" y="1463040"/>
            <a:ext cx="658368" cy="201168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6" name="Col letter 6"/>
          <p:cNvSpPr txBox="1"/>
          <p:nvPr/>
        </p:nvSpPr>
        <p:spPr>
          <a:xfrm>
            <a:off x="3959352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F</a:t>
            </a:r>
            <a:endParaRPr lang="en-US" sz="1000" dirty="0"/>
          </a:p>
        </p:txBody>
      </p:sp>
      <p:sp>
        <p:nvSpPr>
          <p:cNvPr id="17" name="Col head 7"/>
          <p:cNvSpPr/>
          <p:nvPr/>
        </p:nvSpPr>
        <p:spPr>
          <a:xfrm>
            <a:off x="4617720" y="1463040"/>
            <a:ext cx="658368" cy="201168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8" name="Col letter 7"/>
          <p:cNvSpPr txBox="1"/>
          <p:nvPr/>
        </p:nvSpPr>
        <p:spPr>
          <a:xfrm>
            <a:off x="4617720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G</a:t>
            </a:r>
            <a:endParaRPr lang="en-US" sz="1000" dirty="0"/>
          </a:p>
        </p:txBody>
      </p:sp>
      <p:sp>
        <p:nvSpPr>
          <p:cNvPr id="19" name="Cell 0-0"/>
          <p:cNvSpPr/>
          <p:nvPr/>
        </p:nvSpPr>
        <p:spPr>
          <a:xfrm>
            <a:off x="822960" y="1664208"/>
            <a:ext cx="502920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0" name="Cell text 0-0"/>
          <p:cNvSpPr txBox="1"/>
          <p:nvPr/>
        </p:nvSpPr>
        <p:spPr>
          <a:xfrm>
            <a:off x="868680" y="1664208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 dirty="0"/>
          </a:p>
        </p:txBody>
      </p:sp>
      <p:sp>
        <p:nvSpPr>
          <p:cNvPr id="21" name="Cell 0-1"/>
          <p:cNvSpPr/>
          <p:nvPr/>
        </p:nvSpPr>
        <p:spPr>
          <a:xfrm>
            <a:off x="1325880" y="166420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2" name="Cell text 0-1"/>
          <p:cNvSpPr txBox="1"/>
          <p:nvPr/>
        </p:nvSpPr>
        <p:spPr>
          <a:xfrm>
            <a:off x="1371600" y="166420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000" dirty="0"/>
          </a:p>
        </p:txBody>
      </p:sp>
      <p:sp>
        <p:nvSpPr>
          <p:cNvPr id="23" name="Cell 0-2"/>
          <p:cNvSpPr/>
          <p:nvPr/>
        </p:nvSpPr>
        <p:spPr>
          <a:xfrm>
            <a:off x="1984248" y="166420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4" name="Cell text 0-2"/>
          <p:cNvSpPr txBox="1"/>
          <p:nvPr/>
        </p:nvSpPr>
        <p:spPr>
          <a:xfrm>
            <a:off x="2029968" y="166420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000" dirty="0"/>
          </a:p>
        </p:txBody>
      </p:sp>
      <p:sp>
        <p:nvSpPr>
          <p:cNvPr id="25" name="Cell 0-3"/>
          <p:cNvSpPr/>
          <p:nvPr/>
        </p:nvSpPr>
        <p:spPr>
          <a:xfrm>
            <a:off x="2642616" y="166420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6" name="Cell text 0-3"/>
          <p:cNvSpPr txBox="1"/>
          <p:nvPr/>
        </p:nvSpPr>
        <p:spPr>
          <a:xfrm>
            <a:off x="2688336" y="166420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000" dirty="0"/>
          </a:p>
        </p:txBody>
      </p:sp>
      <p:sp>
        <p:nvSpPr>
          <p:cNvPr id="27" name="Cell 0-4"/>
          <p:cNvSpPr/>
          <p:nvPr/>
        </p:nvSpPr>
        <p:spPr>
          <a:xfrm>
            <a:off x="3300984" y="166420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8" name="Cell text 0-4"/>
          <p:cNvSpPr txBox="1"/>
          <p:nvPr/>
        </p:nvSpPr>
        <p:spPr>
          <a:xfrm>
            <a:off x="3346704" y="166420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000" dirty="0"/>
          </a:p>
        </p:txBody>
      </p:sp>
      <p:sp>
        <p:nvSpPr>
          <p:cNvPr id="29" name="Cell 0-5"/>
          <p:cNvSpPr/>
          <p:nvPr/>
        </p:nvSpPr>
        <p:spPr>
          <a:xfrm>
            <a:off x="3959352" y="166420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30" name="Cell text 0-5"/>
          <p:cNvSpPr txBox="1"/>
          <p:nvPr/>
        </p:nvSpPr>
        <p:spPr>
          <a:xfrm>
            <a:off x="4005072" y="166420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000" dirty="0"/>
          </a:p>
        </p:txBody>
      </p:sp>
      <p:sp>
        <p:nvSpPr>
          <p:cNvPr id="31" name="Cell 0-6"/>
          <p:cNvSpPr/>
          <p:nvPr/>
        </p:nvSpPr>
        <p:spPr>
          <a:xfrm>
            <a:off x="4617720" y="166420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32" name="Cell text 0-6"/>
          <p:cNvSpPr txBox="1"/>
          <p:nvPr/>
        </p:nvSpPr>
        <p:spPr>
          <a:xfrm>
            <a:off x="4663440" y="166420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000" dirty="0"/>
          </a:p>
        </p:txBody>
      </p:sp>
      <p:sp>
        <p:nvSpPr>
          <p:cNvPr id="33" name="Cell 1-0"/>
          <p:cNvSpPr/>
          <p:nvPr/>
        </p:nvSpPr>
        <p:spPr>
          <a:xfrm>
            <a:off x="822960" y="1938528"/>
            <a:ext cx="502920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34" name="Cell text 1-0"/>
          <p:cNvSpPr txBox="1"/>
          <p:nvPr/>
        </p:nvSpPr>
        <p:spPr>
          <a:xfrm>
            <a:off x="868680" y="1938528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Cell 1-1"/>
          <p:cNvSpPr/>
          <p:nvPr/>
        </p:nvSpPr>
        <p:spPr>
          <a:xfrm>
            <a:off x="1325880" y="193852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36" name="Cell text 1-1"/>
          <p:cNvSpPr txBox="1"/>
          <p:nvPr/>
        </p:nvSpPr>
        <p:spPr>
          <a:xfrm>
            <a:off x="1371600" y="193852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Eng·AM</a:t>
            </a:r>
            <a:endParaRPr lang="en-US" sz="1000" dirty="0"/>
          </a:p>
        </p:txBody>
      </p:sp>
      <p:sp>
        <p:nvSpPr>
          <p:cNvPr id="37" name="Cell 1-2"/>
          <p:cNvSpPr/>
          <p:nvPr/>
        </p:nvSpPr>
        <p:spPr>
          <a:xfrm>
            <a:off x="1984248" y="193852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38" name="Cell text 1-2"/>
          <p:cNvSpPr txBox="1"/>
          <p:nvPr/>
        </p:nvSpPr>
        <p:spPr>
          <a:xfrm>
            <a:off x="2029968" y="193852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Maths·SR</a:t>
            </a:r>
            <a:endParaRPr lang="en-US" sz="1000" dirty="0"/>
          </a:p>
        </p:txBody>
      </p:sp>
      <p:sp>
        <p:nvSpPr>
          <p:cNvPr id="39" name="Cell 1-3"/>
          <p:cNvSpPr/>
          <p:nvPr/>
        </p:nvSpPr>
        <p:spPr>
          <a:xfrm>
            <a:off x="2642616" y="193852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40" name="Cell text 1-3"/>
          <p:cNvSpPr txBox="1"/>
          <p:nvPr/>
        </p:nvSpPr>
        <p:spPr>
          <a:xfrm>
            <a:off x="2688336" y="193852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Sci·KI</a:t>
            </a:r>
            <a:endParaRPr lang="en-US" sz="1000" dirty="0"/>
          </a:p>
        </p:txBody>
      </p:sp>
      <p:sp>
        <p:nvSpPr>
          <p:cNvPr id="41" name="Cell 1-4"/>
          <p:cNvSpPr/>
          <p:nvPr/>
        </p:nvSpPr>
        <p:spPr>
          <a:xfrm>
            <a:off x="3300984" y="193852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42" name="Cell text 1-4"/>
          <p:cNvSpPr txBox="1"/>
          <p:nvPr/>
        </p:nvSpPr>
        <p:spPr>
          <a:xfrm>
            <a:off x="3346704" y="193852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Eng·AM</a:t>
            </a:r>
            <a:endParaRPr lang="en-US" sz="1000" dirty="0"/>
          </a:p>
        </p:txBody>
      </p:sp>
      <p:sp>
        <p:nvSpPr>
          <p:cNvPr id="43" name="Cell 1-5"/>
          <p:cNvSpPr/>
          <p:nvPr/>
        </p:nvSpPr>
        <p:spPr>
          <a:xfrm>
            <a:off x="3959352" y="193852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44" name="Cell text 1-5"/>
          <p:cNvSpPr txBox="1"/>
          <p:nvPr/>
        </p:nvSpPr>
        <p:spPr>
          <a:xfrm>
            <a:off x="4005072" y="193852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Hindi·PS</a:t>
            </a:r>
            <a:endParaRPr lang="en-US" sz="1000" dirty="0"/>
          </a:p>
        </p:txBody>
      </p:sp>
      <p:sp>
        <p:nvSpPr>
          <p:cNvPr id="45" name="Cell 1-6"/>
          <p:cNvSpPr/>
          <p:nvPr/>
        </p:nvSpPr>
        <p:spPr>
          <a:xfrm>
            <a:off x="4617720" y="193852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46" name="Cell text 1-6"/>
          <p:cNvSpPr txBox="1"/>
          <p:nvPr/>
        </p:nvSpPr>
        <p:spPr>
          <a:xfrm>
            <a:off x="4663440" y="193852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Maths·SR</a:t>
            </a:r>
            <a:endParaRPr lang="en-US" sz="1000" dirty="0"/>
          </a:p>
        </p:txBody>
      </p:sp>
      <p:sp>
        <p:nvSpPr>
          <p:cNvPr id="47" name="Cell 2-0"/>
          <p:cNvSpPr/>
          <p:nvPr/>
        </p:nvSpPr>
        <p:spPr>
          <a:xfrm>
            <a:off x="822960" y="2212848"/>
            <a:ext cx="502920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48" name="Cell text 2-0"/>
          <p:cNvSpPr txBox="1"/>
          <p:nvPr/>
        </p:nvSpPr>
        <p:spPr>
          <a:xfrm>
            <a:off x="868680" y="2212848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9" name="Cell 2-1"/>
          <p:cNvSpPr/>
          <p:nvPr/>
        </p:nvSpPr>
        <p:spPr>
          <a:xfrm>
            <a:off x="1325880" y="221284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0" name="Cell text 2-1"/>
          <p:cNvSpPr txBox="1"/>
          <p:nvPr/>
        </p:nvSpPr>
        <p:spPr>
          <a:xfrm>
            <a:off x="1371600" y="22128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Maths·SR</a:t>
            </a:r>
            <a:endParaRPr lang="en-US" sz="1000" dirty="0"/>
          </a:p>
        </p:txBody>
      </p:sp>
      <p:sp>
        <p:nvSpPr>
          <p:cNvPr id="51" name="Cell 2-2"/>
          <p:cNvSpPr/>
          <p:nvPr/>
        </p:nvSpPr>
        <p:spPr>
          <a:xfrm>
            <a:off x="1984248" y="221284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2" name="Cell text 2-2"/>
          <p:cNvSpPr txBox="1"/>
          <p:nvPr/>
        </p:nvSpPr>
        <p:spPr>
          <a:xfrm>
            <a:off x="2029968" y="22128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Sci·KI</a:t>
            </a:r>
            <a:endParaRPr lang="en-US" sz="1000" dirty="0"/>
          </a:p>
        </p:txBody>
      </p:sp>
      <p:sp>
        <p:nvSpPr>
          <p:cNvPr id="53" name="Cell 2-3"/>
          <p:cNvSpPr/>
          <p:nvPr/>
        </p:nvSpPr>
        <p:spPr>
          <a:xfrm>
            <a:off x="2642616" y="221284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4" name="Cell text 2-3"/>
          <p:cNvSpPr txBox="1"/>
          <p:nvPr/>
        </p:nvSpPr>
        <p:spPr>
          <a:xfrm>
            <a:off x="2688336" y="22128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Hindi·PS</a:t>
            </a:r>
            <a:endParaRPr lang="en-US" sz="1000" dirty="0"/>
          </a:p>
        </p:txBody>
      </p:sp>
      <p:sp>
        <p:nvSpPr>
          <p:cNvPr id="55" name="Cell 2-4"/>
          <p:cNvSpPr/>
          <p:nvPr/>
        </p:nvSpPr>
        <p:spPr>
          <a:xfrm>
            <a:off x="3300984" y="221284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6" name="Cell text 2-4"/>
          <p:cNvSpPr txBox="1"/>
          <p:nvPr/>
        </p:nvSpPr>
        <p:spPr>
          <a:xfrm>
            <a:off x="3346704" y="22128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Maths·SR</a:t>
            </a:r>
            <a:endParaRPr lang="en-US" sz="1000" dirty="0"/>
          </a:p>
        </p:txBody>
      </p:sp>
      <p:sp>
        <p:nvSpPr>
          <p:cNvPr id="57" name="Cell 2-5"/>
          <p:cNvSpPr/>
          <p:nvPr/>
        </p:nvSpPr>
        <p:spPr>
          <a:xfrm>
            <a:off x="3959352" y="221284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8" name="Cell text 2-5"/>
          <p:cNvSpPr txBox="1"/>
          <p:nvPr/>
        </p:nvSpPr>
        <p:spPr>
          <a:xfrm>
            <a:off x="4005072" y="22128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Eng·AM</a:t>
            </a:r>
            <a:endParaRPr lang="en-US" sz="1000" dirty="0"/>
          </a:p>
        </p:txBody>
      </p:sp>
      <p:sp>
        <p:nvSpPr>
          <p:cNvPr id="59" name="Cell 2-6"/>
          <p:cNvSpPr/>
          <p:nvPr/>
        </p:nvSpPr>
        <p:spPr>
          <a:xfrm>
            <a:off x="4617720" y="2212848"/>
            <a:ext cx="658368" cy="2743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0" name="Cell text 2-6"/>
          <p:cNvSpPr txBox="1"/>
          <p:nvPr/>
        </p:nvSpPr>
        <p:spPr>
          <a:xfrm>
            <a:off x="4663440" y="22128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PE·DV</a:t>
            </a:r>
            <a:endParaRPr lang="en-US" sz="1000" dirty="0"/>
          </a:p>
        </p:txBody>
      </p:sp>
      <p:sp>
        <p:nvSpPr>
          <p:cNvPr id="61" name="Cell 3-0"/>
          <p:cNvSpPr/>
          <p:nvPr/>
        </p:nvSpPr>
        <p:spPr>
          <a:xfrm>
            <a:off x="822960" y="2487168"/>
            <a:ext cx="502920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2" name="Cell text 3-0"/>
          <p:cNvSpPr txBox="1"/>
          <p:nvPr/>
        </p:nvSpPr>
        <p:spPr>
          <a:xfrm>
            <a:off x="868680" y="2487168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3" name="Cell 3-1"/>
          <p:cNvSpPr/>
          <p:nvPr/>
        </p:nvSpPr>
        <p:spPr>
          <a:xfrm>
            <a:off x="1325880" y="248716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4" name="Cell text 3-1"/>
          <p:cNvSpPr txBox="1"/>
          <p:nvPr/>
        </p:nvSpPr>
        <p:spPr>
          <a:xfrm>
            <a:off x="1371600" y="248716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Sci·KI</a:t>
            </a:r>
            <a:endParaRPr lang="en-US" sz="1000" dirty="0"/>
          </a:p>
        </p:txBody>
      </p:sp>
      <p:sp>
        <p:nvSpPr>
          <p:cNvPr id="65" name="Cell 3-2"/>
          <p:cNvSpPr/>
          <p:nvPr/>
        </p:nvSpPr>
        <p:spPr>
          <a:xfrm>
            <a:off x="1984248" y="248716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6" name="Cell text 3-2"/>
          <p:cNvSpPr txBox="1"/>
          <p:nvPr/>
        </p:nvSpPr>
        <p:spPr>
          <a:xfrm>
            <a:off x="2029968" y="248716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Eng·AM</a:t>
            </a:r>
            <a:endParaRPr lang="en-US" sz="1000" dirty="0"/>
          </a:p>
        </p:txBody>
      </p:sp>
      <p:sp>
        <p:nvSpPr>
          <p:cNvPr id="67" name="Cell 3-3"/>
          <p:cNvSpPr/>
          <p:nvPr/>
        </p:nvSpPr>
        <p:spPr>
          <a:xfrm>
            <a:off x="2642616" y="248716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8" name="Cell text 3-3"/>
          <p:cNvSpPr txBox="1"/>
          <p:nvPr/>
        </p:nvSpPr>
        <p:spPr>
          <a:xfrm>
            <a:off x="2688336" y="248716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Maths·SR</a:t>
            </a:r>
            <a:endParaRPr lang="en-US" sz="1000" dirty="0"/>
          </a:p>
        </p:txBody>
      </p:sp>
      <p:sp>
        <p:nvSpPr>
          <p:cNvPr id="69" name="Cell 3-4"/>
          <p:cNvSpPr/>
          <p:nvPr/>
        </p:nvSpPr>
        <p:spPr>
          <a:xfrm>
            <a:off x="3300984" y="2487168"/>
            <a:ext cx="658368" cy="2743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70" name="Cell text 3-4"/>
          <p:cNvSpPr txBox="1"/>
          <p:nvPr/>
        </p:nvSpPr>
        <p:spPr>
          <a:xfrm>
            <a:off x="3346704" y="248716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</a:t>
            </a:r>
            <a:endParaRPr lang="en-US" sz="1000" dirty="0"/>
          </a:p>
        </p:txBody>
      </p:sp>
      <p:sp>
        <p:nvSpPr>
          <p:cNvPr id="71" name="Cell 3-5"/>
          <p:cNvSpPr/>
          <p:nvPr/>
        </p:nvSpPr>
        <p:spPr>
          <a:xfrm>
            <a:off x="3959352" y="248716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72" name="Cell text 3-5"/>
          <p:cNvSpPr txBox="1"/>
          <p:nvPr/>
        </p:nvSpPr>
        <p:spPr>
          <a:xfrm>
            <a:off x="4005072" y="248716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Sci·KI</a:t>
            </a:r>
            <a:endParaRPr lang="en-US" sz="1000" dirty="0"/>
          </a:p>
        </p:txBody>
      </p:sp>
      <p:sp>
        <p:nvSpPr>
          <p:cNvPr id="73" name="Cell 3-6"/>
          <p:cNvSpPr/>
          <p:nvPr/>
        </p:nvSpPr>
        <p:spPr>
          <a:xfrm>
            <a:off x="4617720" y="248716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74" name="Cell text 3-6"/>
          <p:cNvSpPr txBox="1"/>
          <p:nvPr/>
        </p:nvSpPr>
        <p:spPr>
          <a:xfrm>
            <a:off x="4663440" y="248716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Art·NJ</a:t>
            </a:r>
            <a:endParaRPr lang="en-US" sz="1000" dirty="0"/>
          </a:p>
        </p:txBody>
      </p:sp>
      <p:sp>
        <p:nvSpPr>
          <p:cNvPr id="75" name="Cell 4-0"/>
          <p:cNvSpPr/>
          <p:nvPr/>
        </p:nvSpPr>
        <p:spPr>
          <a:xfrm>
            <a:off x="822960" y="2761488"/>
            <a:ext cx="502920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76" name="Cell text 4-0"/>
          <p:cNvSpPr txBox="1"/>
          <p:nvPr/>
        </p:nvSpPr>
        <p:spPr>
          <a:xfrm>
            <a:off x="868680" y="2761488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7" name="Cell 4-1"/>
          <p:cNvSpPr/>
          <p:nvPr/>
        </p:nvSpPr>
        <p:spPr>
          <a:xfrm>
            <a:off x="1325880" y="276148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78" name="Cell text 4-1"/>
          <p:cNvSpPr txBox="1"/>
          <p:nvPr/>
        </p:nvSpPr>
        <p:spPr>
          <a:xfrm>
            <a:off x="1371600" y="276148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Hindi·PS</a:t>
            </a:r>
            <a:endParaRPr lang="en-US" sz="1000" dirty="0"/>
          </a:p>
        </p:txBody>
      </p:sp>
      <p:sp>
        <p:nvSpPr>
          <p:cNvPr id="79" name="Cell 4-2"/>
          <p:cNvSpPr/>
          <p:nvPr/>
        </p:nvSpPr>
        <p:spPr>
          <a:xfrm>
            <a:off x="1984248" y="276148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0" name="Cell text 4-2"/>
          <p:cNvSpPr txBox="1"/>
          <p:nvPr/>
        </p:nvSpPr>
        <p:spPr>
          <a:xfrm>
            <a:off x="2029968" y="276148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PE·DV</a:t>
            </a:r>
            <a:endParaRPr lang="en-US" sz="1000" dirty="0"/>
          </a:p>
        </p:txBody>
      </p:sp>
      <p:sp>
        <p:nvSpPr>
          <p:cNvPr id="81" name="Cell 4-3"/>
          <p:cNvSpPr/>
          <p:nvPr/>
        </p:nvSpPr>
        <p:spPr>
          <a:xfrm>
            <a:off x="2642616" y="276148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2" name="Cell text 4-3"/>
          <p:cNvSpPr txBox="1"/>
          <p:nvPr/>
        </p:nvSpPr>
        <p:spPr>
          <a:xfrm>
            <a:off x="2688336" y="276148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Eng·AM</a:t>
            </a:r>
            <a:endParaRPr lang="en-US" sz="1000" dirty="0"/>
          </a:p>
        </p:txBody>
      </p:sp>
      <p:sp>
        <p:nvSpPr>
          <p:cNvPr id="83" name="Cell 4-4"/>
          <p:cNvSpPr/>
          <p:nvPr/>
        </p:nvSpPr>
        <p:spPr>
          <a:xfrm>
            <a:off x="3300984" y="276148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4" name="Cell text 4-4"/>
          <p:cNvSpPr txBox="1"/>
          <p:nvPr/>
        </p:nvSpPr>
        <p:spPr>
          <a:xfrm>
            <a:off x="3346704" y="276148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Sci·KI</a:t>
            </a:r>
            <a:endParaRPr lang="en-US" sz="1000" dirty="0"/>
          </a:p>
        </p:txBody>
      </p:sp>
      <p:sp>
        <p:nvSpPr>
          <p:cNvPr id="85" name="Cell 4-5"/>
          <p:cNvSpPr/>
          <p:nvPr/>
        </p:nvSpPr>
        <p:spPr>
          <a:xfrm>
            <a:off x="3959352" y="276148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6" name="Cell text 4-5"/>
          <p:cNvSpPr txBox="1"/>
          <p:nvPr/>
        </p:nvSpPr>
        <p:spPr>
          <a:xfrm>
            <a:off x="4005072" y="276148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Maths·SR</a:t>
            </a:r>
            <a:endParaRPr lang="en-US" sz="1000" dirty="0"/>
          </a:p>
        </p:txBody>
      </p:sp>
      <p:sp>
        <p:nvSpPr>
          <p:cNvPr id="87" name="Cell 4-6"/>
          <p:cNvSpPr/>
          <p:nvPr/>
        </p:nvSpPr>
        <p:spPr>
          <a:xfrm>
            <a:off x="4617720" y="276148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8" name="Cell text 4-6"/>
          <p:cNvSpPr txBox="1"/>
          <p:nvPr/>
        </p:nvSpPr>
        <p:spPr>
          <a:xfrm>
            <a:off x="4663440" y="276148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Eng·AM</a:t>
            </a:r>
            <a:endParaRPr lang="en-US" sz="1000" dirty="0"/>
          </a:p>
        </p:txBody>
      </p:sp>
      <p:sp>
        <p:nvSpPr>
          <p:cNvPr id="89" name="Cell 5-0"/>
          <p:cNvSpPr/>
          <p:nvPr/>
        </p:nvSpPr>
        <p:spPr>
          <a:xfrm>
            <a:off x="822960" y="3035808"/>
            <a:ext cx="502920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90" name="Cell text 5-0"/>
          <p:cNvSpPr txBox="1"/>
          <p:nvPr/>
        </p:nvSpPr>
        <p:spPr>
          <a:xfrm>
            <a:off x="868680" y="3035808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1" name="Cell 5-1"/>
          <p:cNvSpPr/>
          <p:nvPr/>
        </p:nvSpPr>
        <p:spPr>
          <a:xfrm>
            <a:off x="1325880" y="303580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92" name="Cell text 5-1"/>
          <p:cNvSpPr txBox="1"/>
          <p:nvPr/>
        </p:nvSpPr>
        <p:spPr>
          <a:xfrm>
            <a:off x="1371600" y="303580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PE·DV</a:t>
            </a:r>
            <a:endParaRPr lang="en-US" sz="1000" dirty="0"/>
          </a:p>
        </p:txBody>
      </p:sp>
      <p:sp>
        <p:nvSpPr>
          <p:cNvPr id="93" name="Cell 5-2"/>
          <p:cNvSpPr/>
          <p:nvPr/>
        </p:nvSpPr>
        <p:spPr>
          <a:xfrm>
            <a:off x="1984248" y="303580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94" name="Cell text 5-2"/>
          <p:cNvSpPr txBox="1"/>
          <p:nvPr/>
        </p:nvSpPr>
        <p:spPr>
          <a:xfrm>
            <a:off x="2029968" y="303580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Maths·SR</a:t>
            </a:r>
            <a:endParaRPr lang="en-US" sz="1000" dirty="0"/>
          </a:p>
        </p:txBody>
      </p:sp>
      <p:sp>
        <p:nvSpPr>
          <p:cNvPr id="95" name="Cell 5-3"/>
          <p:cNvSpPr/>
          <p:nvPr/>
        </p:nvSpPr>
        <p:spPr>
          <a:xfrm>
            <a:off x="2642616" y="303580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96" name="Cell text 5-3"/>
          <p:cNvSpPr txBox="1"/>
          <p:nvPr/>
        </p:nvSpPr>
        <p:spPr>
          <a:xfrm>
            <a:off x="2688336" y="303580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Sci·KI</a:t>
            </a:r>
            <a:endParaRPr lang="en-US" sz="1000" dirty="0"/>
          </a:p>
        </p:txBody>
      </p:sp>
      <p:sp>
        <p:nvSpPr>
          <p:cNvPr id="97" name="Cell 5-4"/>
          <p:cNvSpPr/>
          <p:nvPr/>
        </p:nvSpPr>
        <p:spPr>
          <a:xfrm>
            <a:off x="3300984" y="303580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98" name="Cell text 5-4"/>
          <p:cNvSpPr txBox="1"/>
          <p:nvPr/>
        </p:nvSpPr>
        <p:spPr>
          <a:xfrm>
            <a:off x="3346704" y="303580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Hindi·PS</a:t>
            </a:r>
            <a:endParaRPr lang="en-US" sz="1000" dirty="0"/>
          </a:p>
        </p:txBody>
      </p:sp>
      <p:sp>
        <p:nvSpPr>
          <p:cNvPr id="99" name="Cell 5-5"/>
          <p:cNvSpPr/>
          <p:nvPr/>
        </p:nvSpPr>
        <p:spPr>
          <a:xfrm>
            <a:off x="3959352" y="303580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00" name="Cell text 5-5"/>
          <p:cNvSpPr txBox="1"/>
          <p:nvPr/>
        </p:nvSpPr>
        <p:spPr>
          <a:xfrm>
            <a:off x="4005072" y="303580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Eng·AM</a:t>
            </a:r>
            <a:endParaRPr lang="en-US" sz="1000" dirty="0"/>
          </a:p>
        </p:txBody>
      </p:sp>
      <p:sp>
        <p:nvSpPr>
          <p:cNvPr id="101" name="Cell 5-6"/>
          <p:cNvSpPr/>
          <p:nvPr/>
        </p:nvSpPr>
        <p:spPr>
          <a:xfrm>
            <a:off x="4617720" y="303580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02" name="Cell text 5-6"/>
          <p:cNvSpPr txBox="1"/>
          <p:nvPr/>
        </p:nvSpPr>
        <p:spPr>
          <a:xfrm>
            <a:off x="4663440" y="303580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03" name="Cell 6-0"/>
          <p:cNvSpPr/>
          <p:nvPr/>
        </p:nvSpPr>
        <p:spPr>
          <a:xfrm>
            <a:off x="822960" y="3310128"/>
            <a:ext cx="502920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04" name="Cell text 6-0"/>
          <p:cNvSpPr txBox="1"/>
          <p:nvPr/>
        </p:nvSpPr>
        <p:spPr>
          <a:xfrm>
            <a:off x="868680" y="3310128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05" name="Cell 6-1"/>
          <p:cNvSpPr/>
          <p:nvPr/>
        </p:nvSpPr>
        <p:spPr>
          <a:xfrm>
            <a:off x="1325880" y="331012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06" name="Cell text 6-1"/>
          <p:cNvSpPr txBox="1"/>
          <p:nvPr/>
        </p:nvSpPr>
        <p:spPr>
          <a:xfrm>
            <a:off x="1371600" y="331012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Eng·AM</a:t>
            </a:r>
            <a:endParaRPr lang="en-US" sz="1000" dirty="0"/>
          </a:p>
        </p:txBody>
      </p:sp>
      <p:sp>
        <p:nvSpPr>
          <p:cNvPr id="107" name="Cell 6-2"/>
          <p:cNvSpPr/>
          <p:nvPr/>
        </p:nvSpPr>
        <p:spPr>
          <a:xfrm>
            <a:off x="1984248" y="331012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08" name="Cell text 6-2"/>
          <p:cNvSpPr txBox="1"/>
          <p:nvPr/>
        </p:nvSpPr>
        <p:spPr>
          <a:xfrm>
            <a:off x="2029968" y="331012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Hindi·PS</a:t>
            </a:r>
            <a:endParaRPr lang="en-US" sz="1000" dirty="0"/>
          </a:p>
        </p:txBody>
      </p:sp>
      <p:sp>
        <p:nvSpPr>
          <p:cNvPr id="109" name="Cell 6-3"/>
          <p:cNvSpPr/>
          <p:nvPr/>
        </p:nvSpPr>
        <p:spPr>
          <a:xfrm>
            <a:off x="2642616" y="3310128"/>
            <a:ext cx="658368" cy="2743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10" name="Cell text 6-3"/>
          <p:cNvSpPr txBox="1"/>
          <p:nvPr/>
        </p:nvSpPr>
        <p:spPr>
          <a:xfrm>
            <a:off x="2688336" y="331012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Art·NJ</a:t>
            </a:r>
            <a:endParaRPr lang="en-US" sz="1000" dirty="0"/>
          </a:p>
        </p:txBody>
      </p:sp>
      <p:sp>
        <p:nvSpPr>
          <p:cNvPr id="111" name="Cell 6-4"/>
          <p:cNvSpPr/>
          <p:nvPr/>
        </p:nvSpPr>
        <p:spPr>
          <a:xfrm>
            <a:off x="3300984" y="331012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12" name="Cell text 6-4"/>
          <p:cNvSpPr txBox="1"/>
          <p:nvPr/>
        </p:nvSpPr>
        <p:spPr>
          <a:xfrm>
            <a:off x="3346704" y="331012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Maths·SR</a:t>
            </a:r>
            <a:endParaRPr lang="en-US" sz="1000" dirty="0"/>
          </a:p>
        </p:txBody>
      </p:sp>
      <p:sp>
        <p:nvSpPr>
          <p:cNvPr id="113" name="Cell 6-5"/>
          <p:cNvSpPr/>
          <p:nvPr/>
        </p:nvSpPr>
        <p:spPr>
          <a:xfrm>
            <a:off x="3959352" y="331012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14" name="Cell text 6-5"/>
          <p:cNvSpPr txBox="1"/>
          <p:nvPr/>
        </p:nvSpPr>
        <p:spPr>
          <a:xfrm>
            <a:off x="4005072" y="331012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Sci·KI</a:t>
            </a:r>
            <a:endParaRPr lang="en-US" sz="1000" dirty="0"/>
          </a:p>
        </p:txBody>
      </p:sp>
      <p:sp>
        <p:nvSpPr>
          <p:cNvPr id="115" name="Cell 6-6"/>
          <p:cNvSpPr/>
          <p:nvPr/>
        </p:nvSpPr>
        <p:spPr>
          <a:xfrm>
            <a:off x="4617720" y="331012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16" name="Cell text 6-6"/>
          <p:cNvSpPr txBox="1"/>
          <p:nvPr/>
        </p:nvSpPr>
        <p:spPr>
          <a:xfrm>
            <a:off x="4663440" y="331012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17" name="Cell 7-0"/>
          <p:cNvSpPr/>
          <p:nvPr/>
        </p:nvSpPr>
        <p:spPr>
          <a:xfrm>
            <a:off x="822960" y="3584448"/>
            <a:ext cx="502920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18" name="Cell text 7-0"/>
          <p:cNvSpPr txBox="1"/>
          <p:nvPr/>
        </p:nvSpPr>
        <p:spPr>
          <a:xfrm>
            <a:off x="868680" y="3584448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19" name="Cell 7-1"/>
          <p:cNvSpPr/>
          <p:nvPr/>
        </p:nvSpPr>
        <p:spPr>
          <a:xfrm>
            <a:off x="1325880" y="358444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20" name="Cell text 7-1"/>
          <p:cNvSpPr txBox="1"/>
          <p:nvPr/>
        </p:nvSpPr>
        <p:spPr>
          <a:xfrm>
            <a:off x="1371600" y="35844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Maths·SR</a:t>
            </a:r>
            <a:endParaRPr lang="en-US" sz="1000" dirty="0"/>
          </a:p>
        </p:txBody>
      </p:sp>
      <p:sp>
        <p:nvSpPr>
          <p:cNvPr id="121" name="Cell 7-2"/>
          <p:cNvSpPr/>
          <p:nvPr/>
        </p:nvSpPr>
        <p:spPr>
          <a:xfrm>
            <a:off x="1984248" y="358444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22" name="Cell text 7-2"/>
          <p:cNvSpPr txBox="1"/>
          <p:nvPr/>
        </p:nvSpPr>
        <p:spPr>
          <a:xfrm>
            <a:off x="2029968" y="35844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Sci·KI</a:t>
            </a:r>
            <a:endParaRPr lang="en-US" sz="1000" dirty="0"/>
          </a:p>
        </p:txBody>
      </p:sp>
      <p:sp>
        <p:nvSpPr>
          <p:cNvPr id="123" name="Cell 7-3"/>
          <p:cNvSpPr/>
          <p:nvPr/>
        </p:nvSpPr>
        <p:spPr>
          <a:xfrm>
            <a:off x="2642616" y="358444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24" name="Cell text 7-3"/>
          <p:cNvSpPr txBox="1"/>
          <p:nvPr/>
        </p:nvSpPr>
        <p:spPr>
          <a:xfrm>
            <a:off x="2688336" y="35844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Eng·AM</a:t>
            </a:r>
            <a:endParaRPr lang="en-US" sz="1000" dirty="0"/>
          </a:p>
        </p:txBody>
      </p:sp>
      <p:sp>
        <p:nvSpPr>
          <p:cNvPr id="125" name="Cell 7-4"/>
          <p:cNvSpPr/>
          <p:nvPr/>
        </p:nvSpPr>
        <p:spPr>
          <a:xfrm>
            <a:off x="3300984" y="358444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26" name="Cell text 7-4"/>
          <p:cNvSpPr txBox="1"/>
          <p:nvPr/>
        </p:nvSpPr>
        <p:spPr>
          <a:xfrm>
            <a:off x="3346704" y="35844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PE·DV</a:t>
            </a:r>
            <a:endParaRPr lang="en-US" sz="1000" dirty="0"/>
          </a:p>
        </p:txBody>
      </p:sp>
      <p:sp>
        <p:nvSpPr>
          <p:cNvPr id="127" name="Cell 7-5"/>
          <p:cNvSpPr/>
          <p:nvPr/>
        </p:nvSpPr>
        <p:spPr>
          <a:xfrm>
            <a:off x="3959352" y="358444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28" name="Cell text 7-5"/>
          <p:cNvSpPr txBox="1"/>
          <p:nvPr/>
        </p:nvSpPr>
        <p:spPr>
          <a:xfrm>
            <a:off x="4005072" y="35844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Maths·SR</a:t>
            </a:r>
            <a:endParaRPr lang="en-US" sz="1000" dirty="0"/>
          </a:p>
        </p:txBody>
      </p:sp>
      <p:sp>
        <p:nvSpPr>
          <p:cNvPr id="129" name="Cell 7-6"/>
          <p:cNvSpPr/>
          <p:nvPr/>
        </p:nvSpPr>
        <p:spPr>
          <a:xfrm>
            <a:off x="4617720" y="358444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30" name="Cell text 7-6"/>
          <p:cNvSpPr txBox="1"/>
          <p:nvPr/>
        </p:nvSpPr>
        <p:spPr>
          <a:xfrm>
            <a:off x="4663440" y="35844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31" name="Cell 8-0"/>
          <p:cNvSpPr/>
          <p:nvPr/>
        </p:nvSpPr>
        <p:spPr>
          <a:xfrm>
            <a:off x="822960" y="3858768"/>
            <a:ext cx="502920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32" name="Cell text 8-0"/>
          <p:cNvSpPr txBox="1"/>
          <p:nvPr/>
        </p:nvSpPr>
        <p:spPr>
          <a:xfrm>
            <a:off x="868680" y="3858768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33" name="Cell 8-1"/>
          <p:cNvSpPr/>
          <p:nvPr/>
        </p:nvSpPr>
        <p:spPr>
          <a:xfrm>
            <a:off x="1325880" y="385876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34" name="Cell text 8-1"/>
          <p:cNvSpPr txBox="1"/>
          <p:nvPr/>
        </p:nvSpPr>
        <p:spPr>
          <a:xfrm>
            <a:off x="1371600" y="385876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Art·NJ</a:t>
            </a:r>
            <a:endParaRPr lang="en-US" sz="1000" dirty="0"/>
          </a:p>
        </p:txBody>
      </p:sp>
      <p:sp>
        <p:nvSpPr>
          <p:cNvPr id="135" name="Cell 8-2"/>
          <p:cNvSpPr/>
          <p:nvPr/>
        </p:nvSpPr>
        <p:spPr>
          <a:xfrm>
            <a:off x="1984248" y="385876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36" name="Cell text 8-2"/>
          <p:cNvSpPr txBox="1"/>
          <p:nvPr/>
        </p:nvSpPr>
        <p:spPr>
          <a:xfrm>
            <a:off x="2029968" y="385876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Eng·AM</a:t>
            </a:r>
            <a:endParaRPr lang="en-US" sz="1000" dirty="0"/>
          </a:p>
        </p:txBody>
      </p:sp>
      <p:sp>
        <p:nvSpPr>
          <p:cNvPr id="137" name="Cell 8-3"/>
          <p:cNvSpPr/>
          <p:nvPr/>
        </p:nvSpPr>
        <p:spPr>
          <a:xfrm>
            <a:off x="2642616" y="385876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38" name="Cell text 8-3"/>
          <p:cNvSpPr txBox="1"/>
          <p:nvPr/>
        </p:nvSpPr>
        <p:spPr>
          <a:xfrm>
            <a:off x="2688336" y="385876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Maths·SR</a:t>
            </a:r>
            <a:endParaRPr lang="en-US" sz="1000" dirty="0"/>
          </a:p>
        </p:txBody>
      </p:sp>
      <p:sp>
        <p:nvSpPr>
          <p:cNvPr id="139" name="Cell 8-4"/>
          <p:cNvSpPr/>
          <p:nvPr/>
        </p:nvSpPr>
        <p:spPr>
          <a:xfrm>
            <a:off x="3300984" y="385876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40" name="Cell text 8-4"/>
          <p:cNvSpPr txBox="1"/>
          <p:nvPr/>
        </p:nvSpPr>
        <p:spPr>
          <a:xfrm>
            <a:off x="3346704" y="385876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Eng·AM</a:t>
            </a:r>
            <a:endParaRPr lang="en-US" sz="1000" dirty="0"/>
          </a:p>
        </p:txBody>
      </p:sp>
      <p:sp>
        <p:nvSpPr>
          <p:cNvPr id="141" name="Cell 8-5"/>
          <p:cNvSpPr/>
          <p:nvPr/>
        </p:nvSpPr>
        <p:spPr>
          <a:xfrm>
            <a:off x="3959352" y="385876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42" name="Cell text 8-5"/>
          <p:cNvSpPr txBox="1"/>
          <p:nvPr/>
        </p:nvSpPr>
        <p:spPr>
          <a:xfrm>
            <a:off x="4005072" y="385876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Hindi·PS</a:t>
            </a:r>
            <a:endParaRPr lang="en-US" sz="1000" dirty="0"/>
          </a:p>
        </p:txBody>
      </p:sp>
      <p:sp>
        <p:nvSpPr>
          <p:cNvPr id="143" name="Cell 8-6"/>
          <p:cNvSpPr/>
          <p:nvPr/>
        </p:nvSpPr>
        <p:spPr>
          <a:xfrm>
            <a:off x="4617720" y="3858768"/>
            <a:ext cx="658368" cy="2743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44" name="Cell text 8-6"/>
          <p:cNvSpPr txBox="1"/>
          <p:nvPr/>
        </p:nvSpPr>
        <p:spPr>
          <a:xfrm>
            <a:off x="4663440" y="385876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45" name="Row head 0"/>
          <p:cNvSpPr/>
          <p:nvPr/>
        </p:nvSpPr>
        <p:spPr>
          <a:xfrm>
            <a:off x="548640" y="1664208"/>
            <a:ext cx="274320" cy="27432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46" name="Row num 0"/>
          <p:cNvSpPr txBox="1"/>
          <p:nvPr/>
        </p:nvSpPr>
        <p:spPr>
          <a:xfrm>
            <a:off x="54864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147" name="Row head 1"/>
          <p:cNvSpPr/>
          <p:nvPr/>
        </p:nvSpPr>
        <p:spPr>
          <a:xfrm>
            <a:off x="548640" y="1938528"/>
            <a:ext cx="274320" cy="27432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48" name="Row num 1"/>
          <p:cNvSpPr txBox="1"/>
          <p:nvPr/>
        </p:nvSpPr>
        <p:spPr>
          <a:xfrm>
            <a:off x="548640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2</a:t>
            </a:r>
            <a:endParaRPr lang="en-US" sz="1000" dirty="0"/>
          </a:p>
        </p:txBody>
      </p:sp>
      <p:sp>
        <p:nvSpPr>
          <p:cNvPr id="149" name="Row head 2"/>
          <p:cNvSpPr/>
          <p:nvPr/>
        </p:nvSpPr>
        <p:spPr>
          <a:xfrm>
            <a:off x="548640" y="2212848"/>
            <a:ext cx="274320" cy="27432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50" name="Row num 2"/>
          <p:cNvSpPr txBox="1"/>
          <p:nvPr/>
        </p:nvSpPr>
        <p:spPr>
          <a:xfrm>
            <a:off x="54864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3</a:t>
            </a:r>
            <a:endParaRPr lang="en-US" sz="1000" dirty="0"/>
          </a:p>
        </p:txBody>
      </p:sp>
      <p:sp>
        <p:nvSpPr>
          <p:cNvPr id="151" name="Row head 3"/>
          <p:cNvSpPr/>
          <p:nvPr/>
        </p:nvSpPr>
        <p:spPr>
          <a:xfrm>
            <a:off x="548640" y="2487168"/>
            <a:ext cx="274320" cy="27432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52" name="Row num 3"/>
          <p:cNvSpPr txBox="1"/>
          <p:nvPr/>
        </p:nvSpPr>
        <p:spPr>
          <a:xfrm>
            <a:off x="54864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4</a:t>
            </a:r>
            <a:endParaRPr lang="en-US" sz="1000" dirty="0"/>
          </a:p>
        </p:txBody>
      </p:sp>
      <p:sp>
        <p:nvSpPr>
          <p:cNvPr id="153" name="Row head 4"/>
          <p:cNvSpPr/>
          <p:nvPr/>
        </p:nvSpPr>
        <p:spPr>
          <a:xfrm>
            <a:off x="548640" y="2761488"/>
            <a:ext cx="274320" cy="27432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54" name="Row num 4"/>
          <p:cNvSpPr txBox="1"/>
          <p:nvPr/>
        </p:nvSpPr>
        <p:spPr>
          <a:xfrm>
            <a:off x="54864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5</a:t>
            </a:r>
            <a:endParaRPr lang="en-US" sz="1000" dirty="0"/>
          </a:p>
        </p:txBody>
      </p:sp>
      <p:sp>
        <p:nvSpPr>
          <p:cNvPr id="155" name="Row head 5"/>
          <p:cNvSpPr/>
          <p:nvPr/>
        </p:nvSpPr>
        <p:spPr>
          <a:xfrm>
            <a:off x="548640" y="3035808"/>
            <a:ext cx="274320" cy="27432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56" name="Row num 5"/>
          <p:cNvSpPr txBox="1"/>
          <p:nvPr/>
        </p:nvSpPr>
        <p:spPr>
          <a:xfrm>
            <a:off x="54864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6</a:t>
            </a:r>
            <a:endParaRPr lang="en-US" sz="1000" dirty="0"/>
          </a:p>
        </p:txBody>
      </p:sp>
      <p:sp>
        <p:nvSpPr>
          <p:cNvPr id="157" name="Row head 6"/>
          <p:cNvSpPr/>
          <p:nvPr/>
        </p:nvSpPr>
        <p:spPr>
          <a:xfrm>
            <a:off x="548640" y="3310128"/>
            <a:ext cx="274320" cy="27432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58" name="Row num 6"/>
          <p:cNvSpPr txBox="1"/>
          <p:nvPr/>
        </p:nvSpPr>
        <p:spPr>
          <a:xfrm>
            <a:off x="54864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7</a:t>
            </a:r>
            <a:endParaRPr lang="en-US" sz="1000" dirty="0"/>
          </a:p>
        </p:txBody>
      </p:sp>
      <p:sp>
        <p:nvSpPr>
          <p:cNvPr id="159" name="Row head 7"/>
          <p:cNvSpPr/>
          <p:nvPr/>
        </p:nvSpPr>
        <p:spPr>
          <a:xfrm>
            <a:off x="548640" y="3584448"/>
            <a:ext cx="274320" cy="27432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60" name="Row num 7"/>
          <p:cNvSpPr txBox="1"/>
          <p:nvPr/>
        </p:nvSpPr>
        <p:spPr>
          <a:xfrm>
            <a:off x="548640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8</a:t>
            </a:r>
            <a:endParaRPr lang="en-US" sz="1000" dirty="0"/>
          </a:p>
        </p:txBody>
      </p:sp>
      <p:sp>
        <p:nvSpPr>
          <p:cNvPr id="161" name="Row head 8"/>
          <p:cNvSpPr/>
          <p:nvPr/>
        </p:nvSpPr>
        <p:spPr>
          <a:xfrm>
            <a:off x="548640" y="3858768"/>
            <a:ext cx="274320" cy="27432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62" name="Row num 8"/>
          <p:cNvSpPr txBox="1"/>
          <p:nvPr/>
        </p:nvSpPr>
        <p:spPr>
          <a:xfrm>
            <a:off x="548640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9</a:t>
            </a:r>
            <a:endParaRPr lang="en-US" sz="1000" dirty="0"/>
          </a:p>
        </p:txBody>
      </p:sp>
      <p:sp>
        <p:nvSpPr>
          <p:cNvPr id="163" name="Circle SR Tue P1"/>
          <p:cNvSpPr/>
          <p:nvPr/>
        </p:nvSpPr>
        <p:spPr>
          <a:xfrm rot="-240000">
            <a:off x="1929384" y="1892808"/>
            <a:ext cx="768096" cy="365760"/>
          </a:xfrm>
          <a:prstGeom prst="ellipse">
            <a:avLst/>
          </a:prstGeom>
          <a:solidFill>
            <a:schemeClr val="bg1">
              <a:alpha val="0"/>
            </a:schemeClr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164" name="Circle SR Fri P4"/>
          <p:cNvSpPr/>
          <p:nvPr/>
        </p:nvSpPr>
        <p:spPr>
          <a:xfrm rot="-240000">
            <a:off x="3904488" y="2715768"/>
            <a:ext cx="768096" cy="365760"/>
          </a:xfrm>
          <a:prstGeom prst="ellipse">
            <a:avLst/>
          </a:prstGeom>
          <a:solidFill>
            <a:schemeClr val="bg1">
              <a:alpha val="0"/>
            </a:schemeClr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165" name="Red note clash"/>
          <p:cNvSpPr txBox="1"/>
          <p:nvPr/>
        </p:nvSpPr>
        <p:spPr>
          <a:xfrm>
            <a:off x="114300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 is also teaching 8B here</a:t>
            </a:r>
            <a:endParaRPr lang="en-US" sz="1100" dirty="0"/>
          </a:p>
        </p:txBody>
      </p:sp>
      <p:sp>
        <p:nvSpPr>
          <p:cNvPr id="166" name="Red note gap"/>
          <p:cNvSpPr txBox="1"/>
          <p:nvPr/>
        </p:nvSpPr>
        <p:spPr>
          <a:xfrm>
            <a:off x="3072384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takes this?</a:t>
            </a:r>
            <a:endParaRPr lang="en-US" sz="1100" dirty="0"/>
          </a:p>
        </p:txBody>
      </p:sp>
      <p:sp>
        <p:nvSpPr>
          <p:cNvPr id="167" name="Pain story"/>
          <p:cNvSpPr txBox="1"/>
          <p:nvPr/>
        </p:nvSpPr>
        <p:spPr>
          <a:xfrm>
            <a:off x="5806440" y="146304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 most schools, one person owns this file.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They build it over the summer, a few cells at a time, with the rules held in their head. When a teacher leaves in August, they open it again.</a:t>
            </a:r>
            <a:endParaRPr lang="en-US" sz="1400" dirty="0"/>
          </a:p>
        </p:txBody>
      </p:sp>
      <p:sp>
        <p:nvSpPr>
          <p:cNvPr id="168" name="Pain punchline"/>
          <p:cNvSpPr txBox="1"/>
          <p:nvPr/>
        </p:nvSpPr>
        <p:spPr>
          <a:xfrm>
            <a:off x="5806440" y="31546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called timetable_FINAL_v7.xlsx. It is never final.</a:t>
            </a:r>
            <a:endParaRPr lang="en-US" sz="1400" dirty="0"/>
          </a:p>
        </p:txBody>
      </p:sp>
      <p:sp>
        <p:nvSpPr>
          <p:cNvPr id="16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389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</a:rPr>
              <a:t>Why it takes all summer</a:t>
            </a:r>
            <a:endParaRPr lang="en-US" sz="2800" dirty="0"/>
          </a:p>
        </p:txBody>
      </p:sp>
      <p:sp>
        <p:nvSpPr>
          <p:cNvPr id="3" name="Big number"/>
          <p:cNvSpPr txBox="1"/>
          <p:nvPr/>
        </p:nvSpPr>
        <p:spPr>
          <a:xfrm>
            <a:off x="548640" y="14173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1,920</a:t>
            </a:r>
            <a:endParaRPr lang="en-US" sz="9600" dirty="0"/>
          </a:p>
        </p:txBody>
      </p:sp>
      <p:sp>
        <p:nvSpPr>
          <p:cNvPr id="4" name="Big number caption"/>
          <p:cNvSpPr txBox="1"/>
          <p:nvPr/>
        </p:nvSpPr>
        <p:spPr>
          <a:xfrm>
            <a:off x="548640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lessons to place every week in a school with 40 sections, 8 periods a day, 6 days a week</a:t>
            </a:r>
            <a:endParaRPr lang="en-US" sz="1400" dirty="0"/>
          </a:p>
        </p:txBody>
      </p:sp>
      <p:sp>
        <p:nvSpPr>
          <p:cNvPr id="5" name="Fact 1"/>
          <p:cNvSpPr txBox="1"/>
          <p:nvPr/>
        </p:nvSpPr>
        <p:spPr>
          <a:xfrm>
            <a:off x="4754880" y="1508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Each one needs a teacher </a:t>
            </a:r>
            <a:r>
              <a:rPr lang="en-US" sz="1400" dirty="0">
                <a:solidFill>
                  <a:schemeClr val="tx2"/>
                </a:solidFill>
              </a:rPr>
              <a:t>who is qualified for that subject and not already teaching somewhere else.</a:t>
            </a:r>
            <a:endParaRPr lang="en-US" sz="1400" dirty="0"/>
          </a:p>
        </p:txBody>
      </p:sp>
      <p:sp>
        <p:nvSpPr>
          <p:cNvPr id="6" name="Fact rule 1"/>
          <p:cNvSpPr/>
          <p:nvPr/>
        </p:nvSpPr>
        <p:spPr>
          <a:xfrm>
            <a:off x="4754880" y="2194560"/>
            <a:ext cx="38404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" name="Fact 2"/>
          <p:cNvSpPr txBox="1"/>
          <p:nvPr/>
        </p:nvSpPr>
        <p:spPr>
          <a:xfrm>
            <a:off x="4754880" y="2377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Many need a particular room </a:t>
            </a:r>
            <a:r>
              <a:rPr lang="en-US" sz="1400" dirty="0">
                <a:solidFill>
                  <a:schemeClr val="tx2"/>
                </a:solidFill>
              </a:rPr>
              <a:t>the chemistry lab, the computer room, the ground.</a:t>
            </a:r>
            <a:endParaRPr lang="en-US" sz="1400" dirty="0"/>
          </a:p>
        </p:txBody>
      </p:sp>
      <p:sp>
        <p:nvSpPr>
          <p:cNvPr id="8" name="Fact rule 2"/>
          <p:cNvSpPr/>
          <p:nvPr/>
        </p:nvSpPr>
        <p:spPr>
          <a:xfrm>
            <a:off x="4754880" y="3063240"/>
            <a:ext cx="384048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9" name="Fact 3"/>
          <p:cNvSpPr txBox="1"/>
          <p:nvPr/>
        </p:nvSpPr>
        <p:spPr>
          <a:xfrm>
            <a:off x="4754880" y="3246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All of them have to follow the rules </a:t>
            </a:r>
            <a:r>
              <a:rPr lang="en-US" sz="1400" dirty="0">
                <a:solidFill>
                  <a:schemeClr val="tx2"/>
                </a:solidFill>
              </a:rPr>
              <a:t>agreed in the staff room, most of which were never written down.</a:t>
            </a:r>
            <a:endParaRPr lang="en-US" sz="1400" dirty="0"/>
          </a:p>
        </p:txBody>
      </p:sp>
      <p:sp>
        <p:nvSpPr>
          <p:cNvPr id="10" name="Size takeaway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Move one lesson and others shift with it. So the file gets patched, never rebuilt.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389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</a:rPr>
              <a:t>What timetabling could look like instead</a:t>
            </a:r>
            <a:endParaRPr lang="en-US" sz="2800" dirty="0"/>
          </a:p>
        </p:txBody>
      </p:sp>
      <p:sp>
        <p:nvSpPr>
          <p:cNvPr id="3" name="Old heading"/>
          <p:cNvSpPr txBox="1"/>
          <p:nvPr/>
        </p:nvSpPr>
        <p:spPr>
          <a:xfrm>
            <a:off x="54864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This year</a:t>
            </a:r>
            <a:endParaRPr lang="en-US" sz="1600" dirty="0"/>
          </a:p>
        </p:txBody>
      </p:sp>
      <p:sp>
        <p:nvSpPr>
          <p:cNvPr id="4" name="New heading"/>
          <p:cNvSpPr txBox="1"/>
          <p:nvPr/>
        </p:nvSpPr>
        <p:spPr>
          <a:xfrm>
            <a:off x="484632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With Timetablz</a:t>
            </a:r>
            <a:endParaRPr lang="en-US" sz="1600" dirty="0"/>
          </a:p>
        </p:txBody>
      </p:sp>
      <p:sp>
        <p:nvSpPr>
          <p:cNvPr id="5" name="Column divider"/>
          <p:cNvSpPr/>
          <p:nvPr/>
        </p:nvSpPr>
        <p:spPr>
          <a:xfrm>
            <a:off x="4572000" y="1417320"/>
            <a:ext cx="0" cy="306324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" name="Old when 0"/>
          <p:cNvSpPr txBox="1"/>
          <p:nvPr/>
        </p:nvSpPr>
        <p:spPr>
          <a:xfrm>
            <a:off x="548640" y="18745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April–May</a:t>
            </a:r>
            <a:endParaRPr lang="en-US" sz="1200" dirty="0"/>
          </a:p>
        </p:txBody>
      </p:sp>
      <p:sp>
        <p:nvSpPr>
          <p:cNvPr id="7" name="Old what 0"/>
          <p:cNvSpPr txBox="1"/>
          <p:nvPr/>
        </p:nvSpPr>
        <p:spPr>
          <a:xfrm>
            <a:off x="1645920" y="1874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Collect preferences on paper, start the Excel file</a:t>
            </a:r>
            <a:endParaRPr lang="en-US" sz="1400" dirty="0"/>
          </a:p>
        </p:txBody>
      </p:sp>
      <p:sp>
        <p:nvSpPr>
          <p:cNvPr id="8" name="Old when 1"/>
          <p:cNvSpPr txBox="1"/>
          <p:nvPr/>
        </p:nvSpPr>
        <p:spPr>
          <a:xfrm>
            <a:off x="548640" y="253288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June</a:t>
            </a:r>
            <a:endParaRPr lang="en-US" sz="1200" dirty="0"/>
          </a:p>
        </p:txBody>
      </p:sp>
      <p:sp>
        <p:nvSpPr>
          <p:cNvPr id="9" name="Old what 1"/>
          <p:cNvSpPr txBox="1"/>
          <p:nvPr/>
        </p:nvSpPr>
        <p:spPr>
          <a:xfrm>
            <a:off x="1645920" y="25328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Hunt for clashes, row by row</a:t>
            </a:r>
            <a:endParaRPr lang="en-US" sz="1400" dirty="0"/>
          </a:p>
        </p:txBody>
      </p:sp>
      <p:sp>
        <p:nvSpPr>
          <p:cNvPr id="10" name="Old when 2"/>
          <p:cNvSpPr txBox="1"/>
          <p:nvPr/>
        </p:nvSpPr>
        <p:spPr>
          <a:xfrm>
            <a:off x="548640" y="319125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First week</a:t>
            </a:r>
            <a:endParaRPr lang="en-US" sz="1200" dirty="0"/>
          </a:p>
        </p:txBody>
      </p:sp>
      <p:sp>
        <p:nvSpPr>
          <p:cNvPr id="11" name="Old what 2"/>
          <p:cNvSpPr txBox="1"/>
          <p:nvPr/>
        </p:nvSpPr>
        <p:spPr>
          <a:xfrm>
            <a:off x="1645920" y="31912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Find the ones you missed</a:t>
            </a:r>
            <a:endParaRPr lang="en-US" sz="1400" dirty="0"/>
          </a:p>
        </p:txBody>
      </p:sp>
      <p:sp>
        <p:nvSpPr>
          <p:cNvPr id="12" name="Old when 3"/>
          <p:cNvSpPr txBox="1"/>
          <p:nvPr/>
        </p:nvSpPr>
        <p:spPr>
          <a:xfrm>
            <a:off x="548640" y="3849624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August</a:t>
            </a:r>
            <a:endParaRPr lang="en-US" sz="1200" dirty="0"/>
          </a:p>
        </p:txBody>
      </p:sp>
      <p:sp>
        <p:nvSpPr>
          <p:cNvPr id="13" name="Old what 3"/>
          <p:cNvSpPr txBox="1"/>
          <p:nvPr/>
        </p:nvSpPr>
        <p:spPr>
          <a:xfrm>
            <a:off x="1645920" y="384962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teacher leaves. Start patching</a:t>
            </a:r>
            <a:endParaRPr lang="en-US" sz="1400" dirty="0"/>
          </a:p>
        </p:txBody>
      </p:sp>
      <p:sp>
        <p:nvSpPr>
          <p:cNvPr id="14" name="New when 0"/>
          <p:cNvSpPr txBox="1"/>
          <p:nvPr/>
        </p:nvSpPr>
        <p:spPr>
          <a:xfrm>
            <a:off x="4846320" y="18745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Morning</a:t>
            </a:r>
            <a:endParaRPr lang="en-US" sz="1200" dirty="0"/>
          </a:p>
        </p:txBody>
      </p:sp>
      <p:sp>
        <p:nvSpPr>
          <p:cNvPr id="15" name="New what 0"/>
          <p:cNvSpPr txBox="1"/>
          <p:nvPr/>
        </p:nvSpPr>
        <p:spPr>
          <a:xfrm>
            <a:off x="5943600" y="1874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 teachers, subjects and sections, or upload last year’s file</a:t>
            </a:r>
            <a:endParaRPr lang="en-US" sz="1400" dirty="0"/>
          </a:p>
        </p:txBody>
      </p:sp>
      <p:sp>
        <p:nvSpPr>
          <p:cNvPr id="16" name="New when 1"/>
          <p:cNvSpPr txBox="1"/>
          <p:nvPr/>
        </p:nvSpPr>
        <p:spPr>
          <a:xfrm>
            <a:off x="4846320" y="253288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Afternoon</a:t>
            </a:r>
            <a:endParaRPr lang="en-US" sz="1200" dirty="0"/>
          </a:p>
        </p:txBody>
      </p:sp>
      <p:sp>
        <p:nvSpPr>
          <p:cNvPr id="17" name="New what 1"/>
          <p:cNvSpPr txBox="1"/>
          <p:nvPr/>
        </p:nvSpPr>
        <p:spPr>
          <a:xfrm>
            <a:off x="5943600" y="25328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Type the rules the way you’d say them</a:t>
            </a:r>
            <a:endParaRPr lang="en-US" sz="1400" dirty="0"/>
          </a:p>
        </p:txBody>
      </p:sp>
      <p:sp>
        <p:nvSpPr>
          <p:cNvPr id="18" name="New when 2"/>
          <p:cNvSpPr txBox="1"/>
          <p:nvPr/>
        </p:nvSpPr>
        <p:spPr>
          <a:xfrm>
            <a:off x="4846320" y="319125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Same day</a:t>
            </a:r>
            <a:endParaRPr lang="en-US" sz="1200" dirty="0"/>
          </a:p>
        </p:txBody>
      </p:sp>
      <p:sp>
        <p:nvSpPr>
          <p:cNvPr id="19" name="New what 2"/>
          <p:cNvSpPr txBox="1"/>
          <p:nvPr/>
        </p:nvSpPr>
        <p:spPr>
          <a:xfrm>
            <a:off x="5943600" y="31912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Generate it, lock what you like, regenerate the rest</a:t>
            </a:r>
            <a:endParaRPr lang="en-US" sz="1400" dirty="0"/>
          </a:p>
        </p:txBody>
      </p:sp>
      <p:sp>
        <p:nvSpPr>
          <p:cNvPr id="20" name="New when 3"/>
          <p:cNvSpPr txBox="1"/>
          <p:nvPr/>
        </p:nvSpPr>
        <p:spPr>
          <a:xfrm>
            <a:off x="4846320" y="3849624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August</a:t>
            </a:r>
            <a:endParaRPr lang="en-US" sz="1200" dirty="0"/>
          </a:p>
        </p:txBody>
      </p:sp>
      <p:sp>
        <p:nvSpPr>
          <p:cNvPr id="21" name="New what 3"/>
          <p:cNvSpPr txBox="1"/>
          <p:nvPr/>
        </p:nvSpPr>
        <p:spPr>
          <a:xfrm>
            <a:off x="5943600" y="384962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Update one teacher. Regenerate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389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</a:rPr>
              <a:t>So why is it still done by hand?</a:t>
            </a:r>
            <a:endParaRPr lang="en-US" sz="2800" dirty="0"/>
          </a:p>
        </p:txBody>
      </p:sp>
      <p:sp>
        <p:nvSpPr>
          <p:cNvPr id="3" name="Gap index 1"/>
          <p:cNvSpPr txBox="1"/>
          <p:nvPr/>
        </p:nvSpPr>
        <p:spPr>
          <a:xfrm>
            <a:off x="54864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Gap lead 1"/>
          <p:cNvSpPr txBox="1"/>
          <p:nvPr/>
        </p:nvSpPr>
        <p:spPr>
          <a:xfrm>
            <a:off x="548640" y="1920240"/>
            <a:ext cx="240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is flexible, but it can’t see.</a:t>
            </a:r>
            <a:endParaRPr lang="en-US" sz="1800" dirty="0"/>
          </a:p>
        </p:txBody>
      </p:sp>
      <p:sp>
        <p:nvSpPr>
          <p:cNvPr id="5" name="Gap body 1"/>
          <p:cNvSpPr txBox="1"/>
          <p:nvPr/>
        </p:nvSpPr>
        <p:spPr>
          <a:xfrm>
            <a:off x="548640" y="2743200"/>
            <a:ext cx="240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It will happily put one teacher in two classrooms at 10 am and never mention it.</a:t>
            </a:r>
            <a:endParaRPr lang="en-US" sz="1400" dirty="0"/>
          </a:p>
        </p:txBody>
      </p:sp>
      <p:sp>
        <p:nvSpPr>
          <p:cNvPr id="6" name="Gap index 2"/>
          <p:cNvSpPr txBox="1"/>
          <p:nvPr/>
        </p:nvSpPr>
        <p:spPr>
          <a:xfrm>
            <a:off x="336804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Gap lead 2"/>
          <p:cNvSpPr txBox="1"/>
          <p:nvPr/>
        </p:nvSpPr>
        <p:spPr>
          <a:xfrm>
            <a:off x="3368040" y="1920240"/>
            <a:ext cx="240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Timetable software is correct, but strict.</a:t>
            </a:r>
            <a:endParaRPr lang="en-US" sz="1800" dirty="0"/>
          </a:p>
        </p:txBody>
      </p:sp>
      <p:sp>
        <p:nvSpPr>
          <p:cNvPr id="8" name="Gap body 2"/>
          <p:cNvSpPr txBox="1"/>
          <p:nvPr/>
        </p:nvSpPr>
        <p:spPr>
          <a:xfrm>
            <a:off x="3368040" y="2743200"/>
            <a:ext cx="240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You learn its forms and codes before it will listen. Usually one person learns them, and you are back where you started.</a:t>
            </a:r>
            <a:endParaRPr lang="en-US" sz="1400" dirty="0"/>
          </a:p>
        </p:txBody>
      </p:sp>
      <p:sp>
        <p:nvSpPr>
          <p:cNvPr id="9" name="Gap index 3"/>
          <p:cNvSpPr txBox="1"/>
          <p:nvPr/>
        </p:nvSpPr>
        <p:spPr>
          <a:xfrm>
            <a:off x="618744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Gap lead 3"/>
          <p:cNvSpPr txBox="1"/>
          <p:nvPr/>
        </p:nvSpPr>
        <p:spPr>
          <a:xfrm>
            <a:off x="6187440" y="1920240"/>
            <a:ext cx="240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grid was never the hard part.</a:t>
            </a:r>
            <a:endParaRPr lang="en-US" sz="1800" dirty="0"/>
          </a:p>
        </p:txBody>
      </p:sp>
      <p:sp>
        <p:nvSpPr>
          <p:cNvPr id="11" name="Gap body 3"/>
          <p:cNvSpPr txBox="1"/>
          <p:nvPr/>
        </p:nvSpPr>
        <p:spPr>
          <a:xfrm>
            <a:off x="6187440" y="2743200"/>
            <a:ext cx="240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rules are. They live in staff-room conversations, not in a format any program can read.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389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</a:rPr>
              <a:t>You write the rule. We read it back to you</a:t>
            </a:r>
            <a:endParaRPr lang="en-US" sz="2800" dirty="0"/>
          </a:p>
        </p:txBody>
      </p:sp>
      <p:sp>
        <p:nvSpPr>
          <p:cNvPr id="3" name="Col label typed"/>
          <p:cNvSpPr txBox="1"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What you type</a:t>
            </a:r>
            <a:endParaRPr lang="en-US" sz="1200" dirty="0"/>
          </a:p>
        </p:txBody>
      </p:sp>
      <p:sp>
        <p:nvSpPr>
          <p:cNvPr id="4" name="Col label applied"/>
          <p:cNvSpPr txBox="1"/>
          <p:nvPr/>
        </p:nvSpPr>
        <p:spPr>
          <a:xfrm>
            <a:off x="507492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What Timetablz will apply</a:t>
            </a:r>
            <a:endParaRPr lang="en-US" sz="1200" dirty="0"/>
          </a:p>
        </p:txBody>
      </p:sp>
      <p:sp>
        <p:nvSpPr>
          <p:cNvPr id="5" name="Rule rule 0"/>
          <p:cNvSpPr/>
          <p:nvPr/>
        </p:nvSpPr>
        <p:spPr>
          <a:xfrm>
            <a:off x="548640" y="1737360"/>
            <a:ext cx="804672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" name="Rule said 1"/>
          <p:cNvSpPr txBox="1"/>
          <p:nvPr/>
        </p:nvSpPr>
        <p:spPr>
          <a:xfrm>
            <a:off x="548640" y="1874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“Mrs. Rao can’t take the last two periods on Fridays”</a:t>
            </a:r>
            <a:endParaRPr lang="en-US" sz="1500" dirty="0"/>
          </a:p>
        </p:txBody>
      </p:sp>
      <p:sp>
        <p:nvSpPr>
          <p:cNvPr id="7" name="Rule arrow 1"/>
          <p:cNvSpPr txBox="1"/>
          <p:nvPr/>
        </p:nvSpPr>
        <p:spPr>
          <a:xfrm>
            <a:off x="4663440" y="18745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1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Rule applied box 1"/>
          <p:cNvSpPr/>
          <p:nvPr/>
        </p:nvSpPr>
        <p:spPr>
          <a:xfrm>
            <a:off x="5074920" y="1847088"/>
            <a:ext cx="352044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ule applied 1"/>
          <p:cNvSpPr txBox="1"/>
          <p:nvPr/>
        </p:nvSpPr>
        <p:spPr>
          <a:xfrm>
            <a:off x="5212080" y="1847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Mrs. Rao  ·  unavailable  ·  Friday, periods 7 and 8</a:t>
            </a:r>
            <a:endParaRPr lang="en-US" sz="1300" dirty="0"/>
          </a:p>
        </p:txBody>
      </p:sp>
      <p:sp>
        <p:nvSpPr>
          <p:cNvPr id="10" name="Rule rule 1"/>
          <p:cNvSpPr/>
          <p:nvPr/>
        </p:nvSpPr>
        <p:spPr>
          <a:xfrm>
            <a:off x="548640" y="2514600"/>
            <a:ext cx="804672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Rule said 2"/>
          <p:cNvSpPr txBox="1"/>
          <p:nvPr/>
        </p:nvSpPr>
        <p:spPr>
          <a:xfrm>
            <a:off x="548640" y="2651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“Maths shouldn’t be in the first period”</a:t>
            </a:r>
            <a:endParaRPr lang="en-US" sz="1500" dirty="0"/>
          </a:p>
        </p:txBody>
      </p:sp>
      <p:sp>
        <p:nvSpPr>
          <p:cNvPr id="12" name="Rule arrow 2"/>
          <p:cNvSpPr txBox="1"/>
          <p:nvPr/>
        </p:nvSpPr>
        <p:spPr>
          <a:xfrm>
            <a:off x="4663440" y="26517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1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Rule applied box 2"/>
          <p:cNvSpPr/>
          <p:nvPr/>
        </p:nvSpPr>
        <p:spPr>
          <a:xfrm>
            <a:off x="5074920" y="2624328"/>
            <a:ext cx="352044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ule applied 2"/>
          <p:cNvSpPr txBox="1"/>
          <p:nvPr/>
        </p:nvSpPr>
        <p:spPr>
          <a:xfrm>
            <a:off x="5212080" y="26243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Maths  ·  never period 1  ·  whole school</a:t>
            </a:r>
            <a:endParaRPr lang="en-US" sz="1300" dirty="0"/>
          </a:p>
        </p:txBody>
      </p:sp>
      <p:sp>
        <p:nvSpPr>
          <p:cNvPr id="15" name="Rule rule 2"/>
          <p:cNvSpPr/>
          <p:nvPr/>
        </p:nvSpPr>
        <p:spPr>
          <a:xfrm>
            <a:off x="548640" y="3291840"/>
            <a:ext cx="804672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6" name="Rule said 3"/>
          <p:cNvSpPr txBox="1"/>
          <p:nvPr/>
        </p:nvSpPr>
        <p:spPr>
          <a:xfrm>
            <a:off x="548640" y="3429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more than two Maths periods a day for any class”</a:t>
            </a:r>
            <a:endParaRPr lang="en-US" sz="1500" dirty="0"/>
          </a:p>
        </p:txBody>
      </p:sp>
      <p:sp>
        <p:nvSpPr>
          <p:cNvPr id="17" name="Rule arrow 3"/>
          <p:cNvSpPr txBox="1"/>
          <p:nvPr/>
        </p:nvSpPr>
        <p:spPr>
          <a:xfrm>
            <a:off x="4663440" y="34290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1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Rule applied box 3"/>
          <p:cNvSpPr/>
          <p:nvPr/>
        </p:nvSpPr>
        <p:spPr>
          <a:xfrm>
            <a:off x="5074920" y="3401568"/>
            <a:ext cx="352044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ule applied 3"/>
          <p:cNvSpPr txBox="1"/>
          <p:nvPr/>
        </p:nvSpPr>
        <p:spPr>
          <a:xfrm>
            <a:off x="5212080" y="3401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Maths  ·  at most 2 a day  ·  every class</a:t>
            </a:r>
            <a:endParaRPr lang="en-US" sz="1300" dirty="0"/>
          </a:p>
        </p:txBody>
      </p:sp>
      <p:sp>
        <p:nvSpPr>
          <p:cNvPr id="20" name="Rule rule end"/>
          <p:cNvSpPr/>
          <p:nvPr/>
        </p:nvSpPr>
        <p:spPr>
          <a:xfrm>
            <a:off x="548640" y="4069080"/>
            <a:ext cx="804672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1" name="Rules footnote"/>
          <p:cNvSpPr txBox="1"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Nothing is applied until you confirm it. If a sentence can’t be turned into a rule, it says so rather than guessing.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389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</a:rPr>
              <a:t>Then it solves the whole school in one go</a:t>
            </a:r>
            <a:endParaRPr lang="en-US" sz="2800" dirty="0"/>
          </a:p>
        </p:txBody>
      </p:sp>
      <p:sp>
        <p:nvSpPr>
          <p:cNvPr id="3" name="Solver explanation"/>
          <p:cNvSpPr txBox="1"/>
          <p:nvPr/>
        </p:nvSpPr>
        <p:spPr>
          <a:xfrm>
            <a:off x="548640" y="141732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teacher, room and rule is weighed at the same time by an optimisation engine. It finds a timetable that satisfies all of them, or shows there isn’t one.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When there isn’t, you’re told which rules collide, in plain words, so you know exactly what to change.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Lock the slots you like, drag the ones you don’t, and regenerate everything else around them.</a:t>
            </a:r>
            <a:endParaRPr lang="en-US" sz="1400" dirty="0"/>
          </a:p>
        </p:txBody>
      </p:sp>
      <p:sp>
        <p:nvSpPr>
          <p:cNvPr id="4" name="Conflict message card"/>
          <p:cNvSpPr/>
          <p:nvPr/>
        </p:nvSpPr>
        <p:spPr>
          <a:xfrm>
            <a:off x="4892040" y="1463040"/>
            <a:ext cx="3703320" cy="1965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Conflict heading"/>
          <p:cNvSpPr txBox="1"/>
          <p:nvPr/>
        </p:nvSpPr>
        <p:spPr>
          <a:xfrm>
            <a:off x="5120640" y="16642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Couldn’t build a timetable</a:t>
            </a:r>
            <a:endParaRPr lang="en-US" sz="1400" dirty="0"/>
          </a:p>
        </p:txBody>
      </p:sp>
      <p:sp>
        <p:nvSpPr>
          <p:cNvPr id="6" name="Conflict body"/>
          <p:cNvSpPr txBox="1"/>
          <p:nvPr/>
        </p:nvSpPr>
        <p:spPr>
          <a:xfrm>
            <a:off x="5120640" y="20574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Mr. Iyer is the only Physics teacher, and he’s away on Thursdays. 11A and 11B both need Physics on a Thursday.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Try: let another teacher take one section, or relax the Thursday rule.</a:t>
            </a:r>
            <a:endParaRPr lang="en-US" sz="1300" dirty="0"/>
          </a:p>
        </p:txBody>
      </p:sp>
      <p:sp>
        <p:nvSpPr>
          <p:cNvPr id="7" name="Conflict caption"/>
          <p:cNvSpPr txBox="1"/>
          <p:nvPr/>
        </p:nvSpPr>
        <p:spPr>
          <a:xfrm>
            <a:off x="4892040" y="352044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An example of what the app shows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389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</a:rPr>
              <a:t>Priced so a school can just say yes</a:t>
            </a:r>
            <a:endParaRPr lang="en-US" sz="2800" dirty="0"/>
          </a:p>
        </p:txBody>
      </p:sp>
      <p:sp>
        <p:nvSpPr>
          <p:cNvPr id="3" name="Plan name 0"/>
          <p:cNvSpPr txBox="1"/>
          <p:nvPr/>
        </p:nvSpPr>
        <p:spPr>
          <a:xfrm>
            <a:off x="548640" y="1463040"/>
            <a:ext cx="243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Free</a:t>
            </a:r>
            <a:endParaRPr lang="en-US" sz="1400" dirty="0"/>
          </a:p>
        </p:txBody>
      </p:sp>
      <p:sp>
        <p:nvSpPr>
          <p:cNvPr id="4" name="Plan price 0"/>
          <p:cNvSpPr txBox="1"/>
          <p:nvPr/>
        </p:nvSpPr>
        <p:spPr>
          <a:xfrm>
            <a:off x="548640" y="1783080"/>
            <a:ext cx="243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200" dirty="0"/>
          </a:p>
        </p:txBody>
      </p:sp>
      <p:sp>
        <p:nvSpPr>
          <p:cNvPr id="5" name="Plan period 0"/>
          <p:cNvSpPr txBox="1"/>
          <p:nvPr/>
        </p:nvSpPr>
        <p:spPr>
          <a:xfrm>
            <a:off x="548640" y="2377440"/>
            <a:ext cx="243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 </a:t>
            </a:r>
            <a:endParaRPr lang="en-US" sz="1100" dirty="0"/>
          </a:p>
        </p:txBody>
      </p:sp>
      <p:sp>
        <p:nvSpPr>
          <p:cNvPr id="6" name="Plan items 0"/>
          <p:cNvSpPr txBox="1"/>
          <p:nvPr/>
        </p:nvSpPr>
        <p:spPr>
          <a:xfrm>
            <a:off x="548640" y="2788920"/>
            <a:ext cx="243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One school, up to 100 students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Unlimited timetables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Email support</a:t>
            </a:r>
            <a:endParaRPr lang="en-US" sz="1400" dirty="0"/>
          </a:p>
        </p:txBody>
      </p:sp>
      <p:sp>
        <p:nvSpPr>
          <p:cNvPr id="7" name="Plan divider 1"/>
          <p:cNvSpPr/>
          <p:nvPr/>
        </p:nvSpPr>
        <p:spPr>
          <a:xfrm>
            <a:off x="3169920" y="1463040"/>
            <a:ext cx="0" cy="274320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Plan name 1"/>
          <p:cNvSpPr txBox="1"/>
          <p:nvPr/>
        </p:nvSpPr>
        <p:spPr>
          <a:xfrm>
            <a:off x="3352800" y="1463040"/>
            <a:ext cx="243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</a:t>
            </a:r>
            <a:endParaRPr lang="en-US" sz="1400" dirty="0"/>
          </a:p>
        </p:txBody>
      </p:sp>
      <p:sp>
        <p:nvSpPr>
          <p:cNvPr id="9" name="Plan price 1"/>
          <p:cNvSpPr txBox="1"/>
          <p:nvPr/>
        </p:nvSpPr>
        <p:spPr>
          <a:xfrm>
            <a:off x="3352800" y="1783080"/>
            <a:ext cx="243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₹4,999</a:t>
            </a:r>
            <a:endParaRPr lang="en-US" sz="3200" dirty="0"/>
          </a:p>
        </p:txBody>
      </p:sp>
      <p:sp>
        <p:nvSpPr>
          <p:cNvPr id="10" name="Plan period 1"/>
          <p:cNvSpPr txBox="1"/>
          <p:nvPr/>
        </p:nvSpPr>
        <p:spPr>
          <a:xfrm>
            <a:off x="3352800" y="2377440"/>
            <a:ext cx="243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a year, plus GST</a:t>
            </a:r>
            <a:endParaRPr lang="en-US" sz="1100" dirty="0"/>
          </a:p>
        </p:txBody>
      </p:sp>
      <p:sp>
        <p:nvSpPr>
          <p:cNvPr id="11" name="Plan items 1"/>
          <p:cNvSpPr txBox="1"/>
          <p:nvPr/>
        </p:nvSpPr>
        <p:spPr>
          <a:xfrm>
            <a:off x="3352800" y="2788920"/>
            <a:ext cx="243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Up to 500 students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AI help with setup and rules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Priority support</a:t>
            </a:r>
            <a:endParaRPr lang="en-US" sz="1400" dirty="0"/>
          </a:p>
        </p:txBody>
      </p:sp>
      <p:sp>
        <p:nvSpPr>
          <p:cNvPr id="12" name="Plan divider 2"/>
          <p:cNvSpPr/>
          <p:nvPr/>
        </p:nvSpPr>
        <p:spPr>
          <a:xfrm>
            <a:off x="5974080" y="1463040"/>
            <a:ext cx="0" cy="274320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3" name="Plan name 2"/>
          <p:cNvSpPr txBox="1"/>
          <p:nvPr/>
        </p:nvSpPr>
        <p:spPr>
          <a:xfrm>
            <a:off x="6156960" y="1463040"/>
            <a:ext cx="243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Business</a:t>
            </a:r>
            <a:endParaRPr lang="en-US" sz="1400" dirty="0"/>
          </a:p>
        </p:txBody>
      </p:sp>
      <p:sp>
        <p:nvSpPr>
          <p:cNvPr id="14" name="Plan price 2"/>
          <p:cNvSpPr txBox="1"/>
          <p:nvPr/>
        </p:nvSpPr>
        <p:spPr>
          <a:xfrm>
            <a:off x="6156960" y="1783080"/>
            <a:ext cx="243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talk</a:t>
            </a:r>
            <a:endParaRPr lang="en-US" sz="3200" dirty="0"/>
          </a:p>
        </p:txBody>
      </p:sp>
      <p:sp>
        <p:nvSpPr>
          <p:cNvPr id="15" name="Plan period 2"/>
          <p:cNvSpPr txBox="1"/>
          <p:nvPr/>
        </p:nvSpPr>
        <p:spPr>
          <a:xfrm>
            <a:off x="6156960" y="2377440"/>
            <a:ext cx="243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 </a:t>
            </a:r>
            <a:endParaRPr lang="en-US" sz="1100" dirty="0"/>
          </a:p>
        </p:txBody>
      </p:sp>
      <p:sp>
        <p:nvSpPr>
          <p:cNvPr id="16" name="Plan items 2"/>
          <p:cNvSpPr txBox="1"/>
          <p:nvPr/>
        </p:nvSpPr>
        <p:spPr>
          <a:xfrm>
            <a:off x="6156960" y="2788920"/>
            <a:ext cx="243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Several schools in one account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Hands-on onboarding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Custom terms</a:t>
            </a:r>
            <a:endParaRPr lang="en-US" sz="1400" dirty="0"/>
          </a:p>
        </p:txBody>
      </p:sp>
      <p:sp>
        <p:nvSpPr>
          <p:cNvPr id="17" name="Pricing note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That’s under ₹14 a day for Pro.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389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1"/>
                </a:solidFill>
              </a:rPr>
              <a:t>One next step</a:t>
            </a:r>
            <a:endParaRPr lang="en-US" sz="2800" dirty="0"/>
          </a:p>
        </p:txBody>
      </p:sp>
      <p:sp>
        <p:nvSpPr>
          <p:cNvPr id="3" name="Ask"/>
          <p:cNvSpPr txBox="1"/>
          <p:nvPr/>
        </p:nvSpPr>
        <p:spPr>
          <a:xfrm>
            <a:off x="548640" y="1463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us last year’s timetable.</a:t>
            </a:r>
            <a:endParaRPr lang="en-US" sz="4000" dirty="0"/>
          </a:p>
        </p:txBody>
      </p:sp>
      <p:sp>
        <p:nvSpPr>
          <p:cNvPr id="4" name="Ask detail"/>
          <p:cNvSpPr txBox="1"/>
          <p:nvPr/>
        </p:nvSpPr>
        <p:spPr>
          <a:xfrm>
            <a:off x="548640" y="23774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We’ll set your school up with you and show you a clash-free draft of this year’s, before you pay anything.</a:t>
            </a:r>
            <a:endParaRPr lang="en-US" sz="1600" dirty="0"/>
          </a:p>
        </p:txBody>
      </p:sp>
      <p:sp>
        <p:nvSpPr>
          <p:cNvPr id="5" name="Contact rule"/>
          <p:cNvSpPr/>
          <p:nvPr/>
        </p:nvSpPr>
        <p:spPr>
          <a:xfrm>
            <a:off x="548640" y="3520440"/>
            <a:ext cx="804672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" name="Contact label 0"/>
          <p:cNvSpPr txBox="1"/>
          <p:nvPr/>
        </p:nvSpPr>
        <p:spPr>
          <a:xfrm>
            <a:off x="548640" y="3703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Web</a:t>
            </a:r>
            <a:endParaRPr lang="en-US" sz="1100" dirty="0"/>
          </a:p>
        </p:txBody>
      </p:sp>
      <p:sp>
        <p:nvSpPr>
          <p:cNvPr id="7" name="Contact value 0"/>
          <p:cNvSpPr txBox="1"/>
          <p:nvPr/>
        </p:nvSpPr>
        <p:spPr>
          <a:xfrm>
            <a:off x="548640" y="3950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timetablz.com</a:t>
            </a:r>
            <a:endParaRPr lang="en-US" sz="1500" dirty="0"/>
          </a:p>
        </p:txBody>
      </p:sp>
      <p:sp>
        <p:nvSpPr>
          <p:cNvPr id="8" name="Contact label 1"/>
          <p:cNvSpPr txBox="1"/>
          <p:nvPr/>
        </p:nvSpPr>
        <p:spPr>
          <a:xfrm>
            <a:off x="3291840" y="3703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Email</a:t>
            </a:r>
            <a:endParaRPr lang="en-US" sz="1100" dirty="0"/>
          </a:p>
        </p:txBody>
      </p:sp>
      <p:sp>
        <p:nvSpPr>
          <p:cNvPr id="9" name="Contact value 1"/>
          <p:cNvSpPr txBox="1"/>
          <p:nvPr/>
        </p:nvSpPr>
        <p:spPr>
          <a:xfrm>
            <a:off x="3291840" y="3950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support@timetablz.com</a:t>
            </a:r>
            <a:endParaRPr lang="en-US" sz="1500" dirty="0"/>
          </a:p>
        </p:txBody>
      </p:sp>
      <p:sp>
        <p:nvSpPr>
          <p:cNvPr id="10" name="Contact label 2"/>
          <p:cNvSpPr txBox="1"/>
          <p:nvPr/>
        </p:nvSpPr>
        <p:spPr>
          <a:xfrm>
            <a:off x="6035040" y="3703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Founder</a:t>
            </a:r>
            <a:endParaRPr lang="en-US" sz="1100" dirty="0"/>
          </a:p>
        </p:txBody>
      </p:sp>
      <p:sp>
        <p:nvSpPr>
          <p:cNvPr id="11" name="Contact value 2"/>
          <p:cNvSpPr txBox="1"/>
          <p:nvPr/>
        </p:nvSpPr>
        <p:spPr>
          <a:xfrm>
            <a:off x="6035040" y="3950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Allen Davis, Valkyrie Labs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389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metablz Night Paper">
  <a:themeElements>
    <a:clrScheme name="Timetablz Night Paper">
      <a:dk1>
        <a:srgbClr val="F2F2F0"/>
      </a:dk1>
      <a:lt1>
        <a:srgbClr val="0E0E0E"/>
      </a:lt1>
      <a:dk2>
        <a:srgbClr val="A3A3A3"/>
      </a:dk2>
      <a:lt2>
        <a:srgbClr val="1E1E1E"/>
      </a:lt2>
      <a:accent1>
        <a:srgbClr val="EF5A4F"/>
      </a:accent1>
      <a:accent2>
        <a:srgbClr val="6CC08B"/>
      </a:accent2>
      <a:accent3>
        <a:srgbClr val="4A3D14"/>
      </a:accent3>
      <a:accent4>
        <a:srgbClr val="3A3A3A"/>
      </a:accent4>
      <a:accent5>
        <a:srgbClr val="7A7A7A"/>
      </a:accent5>
      <a:accent6>
        <a:srgbClr val="262626"/>
      </a:accent6>
      <a:hlink>
        <a:srgbClr val="EF5A4F"/>
      </a:hlink>
      <a:folHlink>
        <a:srgbClr val="6B6B6B"/>
      </a:folHlink>
    </a:clrScheme>
    <a:fontScheme name="Timetablz Night Pa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1035</Words>
  <Application>Microsoft Office PowerPoint</Application>
  <PresentationFormat>On-screen Show (16:9)</PresentationFormat>
  <Paragraphs>225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Timetablz Night Paper</vt:lpstr>
      <vt:lpstr>The school timetable, done in an afternoon</vt:lpstr>
      <vt:lpstr>28 May, 9:40 pm. The timetable is open again</vt:lpstr>
      <vt:lpstr>Why it takes all summer</vt:lpstr>
      <vt:lpstr>What timetabling could look like instead</vt:lpstr>
      <vt:lpstr>So why is it still done by hand?</vt:lpstr>
      <vt:lpstr>You write the rule. We read it back to you</vt:lpstr>
      <vt:lpstr>Then it solves the whole school in one go</vt:lpstr>
      <vt:lpstr>Priced so a school can just say yes</vt:lpstr>
      <vt:lpstr>One next step</vt:lpstr>
    </vt:vector>
  </TitlesOfParts>
  <Company>Valkyrie Labs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Timetablz</dc:title>
  <dc:subject>PptxGenJS Presentation</dc:subject>
  <dc:creator>Allen Davis</dc:creator>
  <cp:lastModifiedBy>Allen Davis</cp:lastModifiedBy>
  <cp:revision>2</cp:revision>
  <dcterms:created xsi:type="dcterms:W3CDTF">2026-10-10T12:13:29Z</dcterms:created>
  <dcterms:modified xsi:type="dcterms:W3CDTF">2026-10-10T16:01:02Z</dcterms:modified>
</cp:coreProperties>
</file>