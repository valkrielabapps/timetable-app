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918a27-928e-2c4c-15ca-a4d6baaf944b}">
          <p14:sldIdLst>
            <p14:sldId id="256"/>
          </p14:sldIdLst>
        </p14:section>
        <p14:section name="The framework" id="{12474721-96de-012b-5b01-e703eb83463f}">
          <p14:sldIdLst>
            <p14:sldId id="257"/>
            <p14:sldId id="258"/>
            <p14:sldId id="259"/>
            <p14:sldId id="260"/>
          </p14:sldIdLst>
        </p14:section>
        <p14:section name="Close" id="{4e3b5b35-cee3-19e3-2b48-d073692113d2}">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a complete, clash-free timetable in minutes. The three chips are the three reasons schools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pain they live with. Ask: who builds your timetable today, and how long does it take? The grid shows what they already know: clashes and holes that only surface once term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Paint the after picture before any product detail. Three shifts: speed, flexibility, and independence from one 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they still suffer: Excel is flexible but blind to clashes, traditional software is correct but rigid and needs training, consultants cost money every time something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how, not the what. Emphasise that every rule the AI reads is shown back in plain English for confirmation before the solver uses it, and that impossible rule sets are explained, not silently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one ask: book the walkthrough. Confirm the Week 1 / Week 2 timeline is something you can commit to before presenting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rtlCol="0"/>
          <a:lstStyle>
            <a:lvl1pPr indent="0" marL="0">
              <a:buNone/>
              <a:defRPr lang="en-US" sz="1200" spc="300" kern="0" dirty="0">
                <a:solidFill>
                  <a:schemeClr val="bg2"/>
                </a:solidFill>
              </a:defRPr>
            </a:lvl1pPr>
          </a:lstStyle>
          <a:p>
            <a:pPr indent="0" marL="0">
              <a:buNone/>
            </a:pPr>
            <a:endParaRPr lang="en-US" sz="1200" dirty="0"/>
          </a:p>
        </p:txBody>
      </p:sp>
      <p:sp>
        <p:nvSpPr>
          <p:cNvPr id="3" name="Text 0"/>
          <p:cNvSpPr/>
          <p:nvPr>
            <p:ph idx="101" type="title" hasCustomPrompt="1"/>
          </p:nvPr>
        </p:nvSpPr>
        <p:spPr>
          <a:xfrm>
            <a:off x="548640" y="960120"/>
            <a:ext cx="7680960" cy="237744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4" name="Text 0"/>
          <p:cNvSpPr/>
          <p:nvPr/>
        </p:nvSpPr>
        <p:spPr>
          <a:xfrm>
            <a:off x="548640" y="4681728"/>
            <a:ext cx="1828800" cy="274320"/>
          </a:xfrm>
          <a:prstGeom prst="rect">
            <a:avLst/>
          </a:prstGeom>
          <a:noFill/>
          <a:ln/>
        </p:spPr>
        <p:txBody>
          <a:bodyPr wrap="square" lIns="0" tIns="0" rIns="0" bIns="0" rtlCol="0" anchor="ctr"/>
          <a:lstStyle/>
          <a:p>
            <a:pPr indent="0" marL="0">
              <a:buNone/>
            </a:pPr>
            <a:r>
              <a:rPr lang="en-US" sz="1200" b="1" dirty="0">
                <a:solidFill>
                  <a:schemeClr val="bg1"/>
                </a:solidFill>
                <a:latin typeface="Calibri" pitchFamily="34" charset="0"/>
                <a:ea typeface="Calibri" pitchFamily="34" charset="-122"/>
                <a:cs typeface="Calibri" pitchFamily="34" charset="-120"/>
              </a:rPr>
              <a:t>Timetablz</a:t>
            </a:r>
            <a:endParaRPr lang="en-US" sz="1200" dirty="0"/>
          </a:p>
        </p:txBody>
      </p:sp>
      <p:sp>
        <p:nvSpPr>
          <p:cNvPr id="5" name="Text 1"/>
          <p:cNvSpPr/>
          <p:nvPr/>
        </p:nvSpPr>
        <p:spPr>
          <a:xfrm>
            <a:off x="6766560" y="4681728"/>
            <a:ext cx="1828800" cy="274320"/>
          </a:xfrm>
          <a:prstGeom prst="rect">
            <a:avLst/>
          </a:prstGeom>
          <a:noFill/>
          <a:ln/>
        </p:spPr>
        <p:txBody>
          <a:bodyPr wrap="square" lIns="0" tIns="0" rIns="0" bIns="0" rtlCol="0" anchor="ctr"/>
          <a:lstStyle/>
          <a:p>
            <a:pPr algn="r" indent="0" marL="0">
              <a:buNone/>
            </a:pPr>
            <a:r>
              <a:rPr lang="en-US" sz="1000" dirty="0">
                <a:solidFill>
                  <a:schemeClr val="bg2"/>
                </a:solidFill>
                <a:latin typeface="Calibri" pitchFamily="34" charset="0"/>
                <a:ea typeface="Calibri" pitchFamily="34" charset="-122"/>
                <a:cs typeface="Calibri" pitchFamily="34" charset="-120"/>
              </a:rPr>
              <a:t>timetablz.com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ramework step">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60120" y="457200"/>
            <a:ext cx="7635240" cy="292608"/>
          </a:xfrm>
          <a:prstGeom prst="rect">
            <a:avLst/>
          </a:prstGeom>
          <a:noFill/>
          <a:ln/>
        </p:spPr>
        <p:txBody>
          <a:bodyPr wrap="square" rtlCol="0"/>
          <a:lstStyle>
            <a:lvl1pPr indent="0" marL="0">
              <a:buNone/>
              <a:defRPr lang="en-US" sz="1200" spc="300" kern="0" dirty="0">
                <a:solidFill>
                  <a:schemeClr val="bg2"/>
                </a:solidFill>
              </a:defRPr>
            </a:lvl1pPr>
          </a:lstStyle>
          <a:p>
            <a:pPr indent="0" marL="0">
              <a:buNone/>
            </a:pPr>
            <a:endParaRPr lang="en-US" sz="1200" dirty="0"/>
          </a:p>
        </p:txBody>
      </p:sp>
      <p:sp>
        <p:nvSpPr>
          <p:cNvPr id="3" name="Text 0"/>
          <p:cNvSpPr/>
          <p:nvPr>
            <p:ph idx="101" type="title" hasCustomPrompt="1"/>
          </p:nvPr>
        </p:nvSpPr>
        <p:spPr>
          <a:xfrm>
            <a:off x="548640" y="868680"/>
            <a:ext cx="8046720" cy="9601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4681728"/>
            <a:ext cx="1828800" cy="274320"/>
          </a:xfrm>
          <a:prstGeom prst="rect">
            <a:avLst/>
          </a:prstGeom>
          <a:noFill/>
          <a:ln/>
        </p:spPr>
        <p:txBody>
          <a:bodyPr wrap="square" lIns="0" tIns="0" rIns="0" bIns="0" rtlCol="0" anchor="ctr"/>
          <a:lstStyle/>
          <a:p>
            <a:pPr indent="0" marL="0">
              <a:buNone/>
            </a:pPr>
            <a:r>
              <a:rPr lang="en-US" sz="1200" b="1" dirty="0">
                <a:solidFill>
                  <a:schemeClr val="bg1"/>
                </a:solidFill>
                <a:latin typeface="Calibri" pitchFamily="34" charset="0"/>
                <a:ea typeface="Calibri" pitchFamily="34" charset="-122"/>
                <a:cs typeface="Calibri" pitchFamily="34" charset="-120"/>
              </a:rPr>
              <a:t>Timetablz</a:t>
            </a:r>
            <a:endParaRPr lang="en-US" sz="1200" dirty="0"/>
          </a:p>
        </p:txBody>
      </p:sp>
      <p:sp>
        <p:nvSpPr>
          <p:cNvPr id="5" name="Text 1"/>
          <p:cNvSpPr/>
          <p:nvPr/>
        </p:nvSpPr>
        <p:spPr>
          <a:xfrm>
            <a:off x="6766560" y="4681728"/>
            <a:ext cx="1828800" cy="274320"/>
          </a:xfrm>
          <a:prstGeom prst="rect">
            <a:avLst/>
          </a:prstGeom>
          <a:noFill/>
          <a:ln/>
        </p:spPr>
        <p:txBody>
          <a:bodyPr wrap="square" lIns="0" tIns="0" rIns="0" bIns="0" rtlCol="0" anchor="ctr"/>
          <a:lstStyle/>
          <a:p>
            <a:pPr algn="r" indent="0" marL="0">
              <a:buNone/>
            </a:pPr>
            <a:r>
              <a:rPr lang="en-US" sz="1000" dirty="0">
                <a:solidFill>
                  <a:schemeClr val="bg2"/>
                </a:solidFill>
                <a:latin typeface="Calibri" pitchFamily="34" charset="0"/>
                <a:ea typeface="Calibri" pitchFamily="34" charset="-122"/>
                <a:cs typeface="Calibri" pitchFamily="34" charset="-120"/>
              </a:rPr>
              <a:t>timetablz.com</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lIns="0" tIns="0" rIns="0" bIns="0" rtlCol="0"/>
          <a:lstStyle/>
          <a:p>
            <a:pPr indent="0" marL="0">
              <a:buNone/>
            </a:pPr>
            <a:r>
              <a:rPr lang="en-US" sz="1200" spc="300" kern="0" dirty="0">
                <a:solidFill>
                  <a:schemeClr val="bg2"/>
                </a:solidFill>
              </a:rPr>
              <a:t>TIMETABLZ  ·  FOR SCHOOLS &amp; COLLEGES</a:t>
            </a:r>
            <a:endParaRPr lang="en-US" sz="1200" dirty="0"/>
          </a:p>
        </p:txBody>
      </p:sp>
      <p:sp>
        <p:nvSpPr>
          <p:cNvPr id="3" name="Text 0"/>
          <p:cNvSpPr/>
          <p:nvPr>
            <p:ph idx="101" type="title" hasCustomPrompt="1"/>
          </p:nvPr>
        </p:nvSpPr>
        <p:spPr>
          <a:xfrm>
            <a:off x="548640" y="960120"/>
            <a:ext cx="7680960" cy="2377440"/>
          </a:xfrm>
          <a:prstGeom prst="rect">
            <a:avLst/>
          </a:prstGeom>
          <a:noFill/>
          <a:ln/>
        </p:spPr>
        <p:txBody>
          <a:bodyPr wrap="square" lIns="0" tIns="0" rIns="0" bIns="0" rtlCol="0" anchor="t"/>
          <a:lstStyle/>
          <a:p>
            <a:pPr algn="l" indent="0" marL="0">
              <a:buNone/>
            </a:pPr>
            <a:r>
              <a:rPr lang="en-US" sz="5000" b="1" dirty="0">
                <a:solidFill>
                  <a:schemeClr val="bg1"/>
                </a:solidFill>
              </a:rPr>
              <a:t>Your timetable, built in </a:t>
            </a:r>
            <a:pPr algn="l" indent="0" marL="0">
              <a:buNone/>
            </a:pPr>
            <a:r>
              <a:rPr lang="en-US" sz="5000" b="1" i="1" dirty="0">
                <a:solidFill>
                  <a:schemeClr val="accent1"/>
                </a:solidFill>
              </a:rPr>
              <a:t>minutes</a:t>
            </a:r>
            <a:pPr algn="l" indent="0" marL="0">
              <a:buNone/>
            </a:pPr>
            <a:r>
              <a:rPr lang="en-US" sz="5000" b="1" dirty="0">
                <a:solidFill>
                  <a:schemeClr val="bg1"/>
                </a:solidFill>
              </a:rPr>
              <a:t>, not weeks</a:t>
            </a:r>
            <a:endParaRPr lang="en-US" sz="5000" dirty="0"/>
          </a:p>
        </p:txBody>
      </p:sp>
      <p:sp>
        <p:nvSpPr>
          <p:cNvPr id="4" name="Chip Zero clashes"/>
          <p:cNvSpPr/>
          <p:nvPr/>
        </p:nvSpPr>
        <p:spPr>
          <a:xfrm>
            <a:off x="548640" y="3657600"/>
            <a:ext cx="1600200" cy="438912"/>
          </a:xfrm>
          <a:prstGeom prst="roundRect">
            <a:avLst>
              <a:gd name="adj" fmla="val 50000"/>
            </a:avLst>
          </a:prstGeom>
          <a:solidFill>
            <a:schemeClr val="tx2"/>
          </a:solidFill>
          <a:ln w="12700">
            <a:solidFill>
              <a:schemeClr val="accent6"/>
            </a:solidFill>
            <a:prstDash val="solid"/>
          </a:ln>
        </p:spPr>
      </p:sp>
      <p:sp>
        <p:nvSpPr>
          <p:cNvPr id="5" name="Chip dot Zero clashes"/>
          <p:cNvSpPr/>
          <p:nvPr/>
        </p:nvSpPr>
        <p:spPr>
          <a:xfrm>
            <a:off x="731520" y="3822192"/>
            <a:ext cx="109728" cy="109728"/>
          </a:xfrm>
          <a:prstGeom prst="ellipse">
            <a:avLst/>
          </a:prstGeom>
          <a:solidFill>
            <a:schemeClr val="accent2"/>
          </a:solidFill>
          <a:ln w="12700">
            <a:solidFill>
              <a:schemeClr val="accent2"/>
            </a:solidFill>
            <a:prstDash val="solid"/>
          </a:ln>
        </p:spPr>
      </p:sp>
      <p:sp>
        <p:nvSpPr>
          <p:cNvPr id="6" name="Chip text Zero clashes"/>
          <p:cNvSpPr txBox="1"/>
          <p:nvPr/>
        </p:nvSpPr>
        <p:spPr>
          <a:xfrm>
            <a:off x="932688" y="3657600"/>
            <a:ext cx="1143000" cy="438912"/>
          </a:xfrm>
          <a:prstGeom prst="rect">
            <a:avLst/>
          </a:prstGeom>
          <a:noFill/>
          <a:ln/>
        </p:spPr>
        <p:txBody>
          <a:bodyPr wrap="square" lIns="0" tIns="0" rIns="0" bIns="0" rtlCol="0" anchor="ctr"/>
          <a:lstStyle/>
          <a:p>
            <a:pPr indent="0" marL="0">
              <a:buNone/>
            </a:pPr>
            <a:r>
              <a:rPr lang="en-US" sz="1400" dirty="0">
                <a:solidFill>
                  <a:schemeClr val="bg1"/>
                </a:solidFill>
              </a:rPr>
              <a:t>Zero clashes</a:t>
            </a:r>
            <a:endParaRPr lang="en-US" sz="1400" dirty="0"/>
          </a:p>
        </p:txBody>
      </p:sp>
      <p:sp>
        <p:nvSpPr>
          <p:cNvPr id="7" name="Chip Rules in plain English"/>
          <p:cNvSpPr/>
          <p:nvPr/>
        </p:nvSpPr>
        <p:spPr>
          <a:xfrm>
            <a:off x="2331720" y="3657600"/>
            <a:ext cx="2331720" cy="438912"/>
          </a:xfrm>
          <a:prstGeom prst="roundRect">
            <a:avLst>
              <a:gd name="adj" fmla="val 50000"/>
            </a:avLst>
          </a:prstGeom>
          <a:solidFill>
            <a:schemeClr val="tx2"/>
          </a:solidFill>
          <a:ln w="12700">
            <a:solidFill>
              <a:schemeClr val="accent6"/>
            </a:solidFill>
            <a:prstDash val="solid"/>
          </a:ln>
        </p:spPr>
      </p:sp>
      <p:sp>
        <p:nvSpPr>
          <p:cNvPr id="8" name="Chip dot Rules in plain English"/>
          <p:cNvSpPr/>
          <p:nvPr/>
        </p:nvSpPr>
        <p:spPr>
          <a:xfrm>
            <a:off x="2514600" y="3822192"/>
            <a:ext cx="109728" cy="109728"/>
          </a:xfrm>
          <a:prstGeom prst="ellipse">
            <a:avLst/>
          </a:prstGeom>
          <a:solidFill>
            <a:schemeClr val="accent3"/>
          </a:solidFill>
          <a:ln w="12700">
            <a:solidFill>
              <a:schemeClr val="accent3"/>
            </a:solidFill>
            <a:prstDash val="solid"/>
          </a:ln>
        </p:spPr>
      </p:sp>
      <p:sp>
        <p:nvSpPr>
          <p:cNvPr id="9" name="Chip text Rules in plain English"/>
          <p:cNvSpPr txBox="1"/>
          <p:nvPr/>
        </p:nvSpPr>
        <p:spPr>
          <a:xfrm>
            <a:off x="2715768" y="3657600"/>
            <a:ext cx="1874520" cy="438912"/>
          </a:xfrm>
          <a:prstGeom prst="rect">
            <a:avLst/>
          </a:prstGeom>
          <a:noFill/>
          <a:ln/>
        </p:spPr>
        <p:txBody>
          <a:bodyPr wrap="square" lIns="0" tIns="0" rIns="0" bIns="0" rtlCol="0" anchor="ctr"/>
          <a:lstStyle/>
          <a:p>
            <a:pPr indent="0" marL="0">
              <a:buNone/>
            </a:pPr>
            <a:r>
              <a:rPr lang="en-US" sz="1400" dirty="0">
                <a:solidFill>
                  <a:schemeClr val="bg1"/>
                </a:solidFill>
              </a:rPr>
              <a:t>Rules in plain English</a:t>
            </a:r>
            <a:endParaRPr lang="en-US" sz="1400" dirty="0"/>
          </a:p>
        </p:txBody>
      </p:sp>
      <p:sp>
        <p:nvSpPr>
          <p:cNvPr id="10" name="Chip Change anything, re-solve instantly"/>
          <p:cNvSpPr/>
          <p:nvPr/>
        </p:nvSpPr>
        <p:spPr>
          <a:xfrm>
            <a:off x="4846320" y="3657600"/>
            <a:ext cx="3246120" cy="438912"/>
          </a:xfrm>
          <a:prstGeom prst="roundRect">
            <a:avLst>
              <a:gd name="adj" fmla="val 50000"/>
            </a:avLst>
          </a:prstGeom>
          <a:solidFill>
            <a:schemeClr val="tx2"/>
          </a:solidFill>
          <a:ln w="12700">
            <a:solidFill>
              <a:schemeClr val="accent6"/>
            </a:solidFill>
            <a:prstDash val="solid"/>
          </a:ln>
        </p:spPr>
      </p:sp>
      <p:sp>
        <p:nvSpPr>
          <p:cNvPr id="11" name="Chip dot Change anything, re-solve instantly"/>
          <p:cNvSpPr/>
          <p:nvPr/>
        </p:nvSpPr>
        <p:spPr>
          <a:xfrm>
            <a:off x="5029200" y="3822192"/>
            <a:ext cx="109728" cy="109728"/>
          </a:xfrm>
          <a:prstGeom prst="ellipse">
            <a:avLst/>
          </a:prstGeom>
          <a:solidFill>
            <a:schemeClr val="accent4"/>
          </a:solidFill>
          <a:ln w="12700">
            <a:solidFill>
              <a:schemeClr val="accent4"/>
            </a:solidFill>
            <a:prstDash val="solid"/>
          </a:ln>
        </p:spPr>
      </p:sp>
      <p:sp>
        <p:nvSpPr>
          <p:cNvPr id="12" name="Chip text Change anything, re-solve instantly"/>
          <p:cNvSpPr txBox="1"/>
          <p:nvPr/>
        </p:nvSpPr>
        <p:spPr>
          <a:xfrm>
            <a:off x="5230368" y="3657600"/>
            <a:ext cx="2788920" cy="438912"/>
          </a:xfrm>
          <a:prstGeom prst="rect">
            <a:avLst/>
          </a:prstGeom>
          <a:noFill/>
          <a:ln/>
        </p:spPr>
        <p:txBody>
          <a:bodyPr wrap="square" lIns="0" tIns="0" rIns="0" bIns="0" rtlCol="0" anchor="ctr"/>
          <a:lstStyle/>
          <a:p>
            <a:pPr indent="0" marL="0">
              <a:buNone/>
            </a:pPr>
            <a:r>
              <a:rPr lang="en-US" sz="1400" dirty="0">
                <a:solidFill>
                  <a:schemeClr val="bg1"/>
                </a:solidFill>
              </a:rPr>
              <a:t>Change anything, re-solve instantly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tep number ring"/>
          <p:cNvSpPr/>
          <p:nvPr/>
        </p:nvSpPr>
        <p:spPr>
          <a:xfrm>
            <a:off x="548640" y="457200"/>
            <a:ext cx="292608" cy="292608"/>
          </a:xfrm>
          <a:prstGeom prst="ellipse">
            <a:avLst/>
          </a:prstGeom>
          <a:solidFill>
            <a:schemeClr val="tx1"/>
          </a:solidFill>
          <a:ln w="28575">
            <a:solidFill>
              <a:schemeClr val="accent2"/>
            </a:solidFill>
            <a:prstDash val="solid"/>
          </a:ln>
        </p:spPr>
      </p:sp>
      <p:sp>
        <p:nvSpPr>
          <p:cNvPr id="3" name="Step number"/>
          <p:cNvSpPr txBox="1"/>
          <p:nvPr/>
        </p:nvSpPr>
        <p:spPr>
          <a:xfrm>
            <a:off x="548640" y="457200"/>
            <a:ext cx="292608" cy="292608"/>
          </a:xfrm>
          <a:prstGeom prst="rect">
            <a:avLst/>
          </a:prstGeom>
          <a:noFill/>
          <a:ln/>
        </p:spPr>
        <p:txBody>
          <a:bodyPr wrap="square" lIns="0" tIns="0" rIns="0" bIns="0" rtlCol="0" anchor="ctr"/>
          <a:lstStyle/>
          <a:p>
            <a:pPr algn="ctr" indent="0" marL="0">
              <a:buNone/>
            </a:pPr>
            <a:r>
              <a:rPr lang="en-US" sz="1200" b="1" dirty="0">
                <a:solidFill>
                  <a:schemeClr val="accent2"/>
                </a:solidFill>
              </a:rPr>
              <a:t>1</a:t>
            </a:r>
            <a:endParaRPr lang="en-US" sz="1200" dirty="0"/>
          </a:p>
        </p:txBody>
      </p:sp>
      <p:sp>
        <p:nvSpPr>
          <p:cNvPr id="4" name="Text 0"/>
          <p:cNvSpPr/>
          <p:nvPr>
            <p:ph idx="100" type="body" hasCustomPrompt="1"/>
          </p:nvPr>
        </p:nvSpPr>
        <p:spPr>
          <a:xfrm>
            <a:off x="960120" y="457200"/>
            <a:ext cx="7635240" cy="292608"/>
          </a:xfrm>
          <a:prstGeom prst="rect">
            <a:avLst/>
          </a:prstGeom>
          <a:noFill/>
          <a:ln/>
        </p:spPr>
        <p:txBody>
          <a:bodyPr wrap="square" lIns="0" tIns="0" rIns="0" bIns="0" rtlCol="0" anchor="ctr"/>
          <a:lstStyle/>
          <a:p>
            <a:pPr indent="0" marL="0">
              <a:buNone/>
            </a:pPr>
            <a:r>
              <a:rPr lang="en-US" sz="1200" spc="300" kern="0" dirty="0">
                <a:solidFill>
                  <a:schemeClr val="bg2"/>
                </a:solidFill>
              </a:rPr>
              <a:t>THE BURNING HOUSE</a:t>
            </a:r>
            <a:endParaRPr lang="en-US" sz="1200" dirty="0"/>
          </a:p>
        </p:txBody>
      </p:sp>
      <p:sp>
        <p:nvSpPr>
          <p:cNvPr id="5" name="Text 0"/>
          <p:cNvSpPr/>
          <p:nvPr>
            <p:ph idx="101"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3000" b="1" dirty="0">
                <a:solidFill>
                  <a:schemeClr val="bg1"/>
                </a:solidFill>
              </a:rPr>
              <a:t>Every year, one senior teacher </a:t>
            </a:r>
            <a:pPr algn="l" indent="0" marL="0">
              <a:buNone/>
            </a:pPr>
            <a:r>
              <a:rPr lang="en-US" sz="3000" b="1" i="1" dirty="0">
                <a:solidFill>
                  <a:schemeClr val="accent2"/>
                </a:solidFill>
              </a:rPr>
              <a:t>disappears</a:t>
            </a:r>
            <a:pPr algn="l" indent="0" marL="0">
              <a:buNone/>
            </a:pPr>
            <a:r>
              <a:rPr lang="en-US" sz="3000" b="1" dirty="0">
                <a:solidFill>
                  <a:schemeClr val="bg1"/>
                </a:solidFill>
              </a:rPr>
              <a:t> into a spreadsheet</a:t>
            </a:r>
            <a:endParaRPr lang="en-US" sz="3000" dirty="0"/>
          </a:p>
        </p:txBody>
      </p:sp>
      <p:sp>
        <p:nvSpPr>
          <p:cNvPr id="6" name="Pain marker 1"/>
          <p:cNvSpPr/>
          <p:nvPr/>
        </p:nvSpPr>
        <p:spPr>
          <a:xfrm>
            <a:off x="548640" y="2093976"/>
            <a:ext cx="146304" cy="45720"/>
          </a:xfrm>
          <a:prstGeom prst="roundRect">
            <a:avLst>
              <a:gd name="adj" fmla="val 40000"/>
            </a:avLst>
          </a:prstGeom>
          <a:solidFill>
            <a:schemeClr val="accent2"/>
          </a:solidFill>
          <a:ln w="12700">
            <a:solidFill>
              <a:schemeClr val="accent2"/>
            </a:solidFill>
            <a:prstDash val="solid"/>
          </a:ln>
        </p:spPr>
      </p:sp>
      <p:sp>
        <p:nvSpPr>
          <p:cNvPr id="7" name="Pain 1"/>
          <p:cNvSpPr txBox="1"/>
          <p:nvPr/>
        </p:nvSpPr>
        <p:spPr>
          <a:xfrm>
            <a:off x="841248" y="2011680"/>
            <a:ext cx="3840480" cy="777240"/>
          </a:xfrm>
          <a:prstGeom prst="rect">
            <a:avLst/>
          </a:prstGeom>
          <a:noFill/>
          <a:ln/>
        </p:spPr>
        <p:txBody>
          <a:bodyPr wrap="square" lIns="0" tIns="0" rIns="0" bIns="0" rtlCol="0" anchor="t"/>
          <a:lstStyle/>
          <a:p>
            <a:pPr indent="0" marL="0">
              <a:spcAft>
                <a:spcPts val="300"/>
              </a:spcAft>
              <a:buNone/>
            </a:pPr>
            <a:r>
              <a:rPr lang="en-US" sz="1500" dirty="0">
                <a:solidFill>
                  <a:schemeClr val="bg1"/>
                </a:solidFill>
              </a:rPr>
              <a:t>Weeks of the summer break spent juggling teachers, rooms and periods by hand</a:t>
            </a:r>
            <a:endParaRPr lang="en-US" sz="1500" dirty="0"/>
          </a:p>
          <a:p>
            <a:pPr indent="0" marL="0">
              <a:spcAft>
                <a:spcPts val="300"/>
              </a:spcAft>
              <a:buNone/>
            </a:pPr>
            <a:r>
              <a:rPr lang="en-US" sz="1200" dirty="0">
                <a:solidFill>
                  <a:schemeClr val="bg2"/>
                </a:solidFill>
              </a:rPr>
              <a:t>The know-how lives in one person’s head</a:t>
            </a:r>
            <a:endParaRPr lang="en-US" sz="1500" dirty="0"/>
          </a:p>
        </p:txBody>
      </p:sp>
      <p:sp>
        <p:nvSpPr>
          <p:cNvPr id="8" name="Pain marker 2"/>
          <p:cNvSpPr/>
          <p:nvPr/>
        </p:nvSpPr>
        <p:spPr>
          <a:xfrm>
            <a:off x="548640" y="2962656"/>
            <a:ext cx="146304" cy="45720"/>
          </a:xfrm>
          <a:prstGeom prst="roundRect">
            <a:avLst>
              <a:gd name="adj" fmla="val 40000"/>
            </a:avLst>
          </a:prstGeom>
          <a:solidFill>
            <a:schemeClr val="accent2"/>
          </a:solidFill>
          <a:ln w="12700">
            <a:solidFill>
              <a:schemeClr val="accent2"/>
            </a:solidFill>
            <a:prstDash val="solid"/>
          </a:ln>
        </p:spPr>
      </p:sp>
      <p:sp>
        <p:nvSpPr>
          <p:cNvPr id="9" name="Pain 2"/>
          <p:cNvSpPr txBox="1"/>
          <p:nvPr/>
        </p:nvSpPr>
        <p:spPr>
          <a:xfrm>
            <a:off x="841248" y="2880360"/>
            <a:ext cx="3840480" cy="777240"/>
          </a:xfrm>
          <a:prstGeom prst="rect">
            <a:avLst/>
          </a:prstGeom>
          <a:noFill/>
          <a:ln/>
        </p:spPr>
        <p:txBody>
          <a:bodyPr wrap="square" lIns="0" tIns="0" rIns="0" bIns="0" rtlCol="0" anchor="t"/>
          <a:lstStyle/>
          <a:p>
            <a:pPr indent="0" marL="0">
              <a:spcAft>
                <a:spcPts val="300"/>
              </a:spcAft>
              <a:buNone/>
            </a:pPr>
            <a:r>
              <a:rPr lang="en-US" sz="1500" dirty="0">
                <a:solidFill>
                  <a:schemeClr val="bg1"/>
                </a:solidFill>
              </a:rPr>
              <a:t>Clashes surface on day one: one teacher, two classes, same period</a:t>
            </a:r>
            <a:endParaRPr lang="en-US" sz="1500" dirty="0"/>
          </a:p>
          <a:p>
            <a:pPr indent="0" marL="0">
              <a:spcAft>
                <a:spcPts val="300"/>
              </a:spcAft>
              <a:buNone/>
            </a:pPr>
            <a:r>
              <a:rPr lang="en-US" sz="1200" dirty="0">
                <a:solidFill>
                  <a:schemeClr val="bg2"/>
                </a:solidFill>
              </a:rPr>
              <a:t>Found by students, not by the spreadsheet</a:t>
            </a:r>
            <a:endParaRPr lang="en-US" sz="1500" dirty="0"/>
          </a:p>
        </p:txBody>
      </p:sp>
      <p:sp>
        <p:nvSpPr>
          <p:cNvPr id="10" name="Pain marker 3"/>
          <p:cNvSpPr/>
          <p:nvPr/>
        </p:nvSpPr>
        <p:spPr>
          <a:xfrm>
            <a:off x="548640" y="3831336"/>
            <a:ext cx="146304" cy="45720"/>
          </a:xfrm>
          <a:prstGeom prst="roundRect">
            <a:avLst>
              <a:gd name="adj" fmla="val 40000"/>
            </a:avLst>
          </a:prstGeom>
          <a:solidFill>
            <a:schemeClr val="accent2"/>
          </a:solidFill>
          <a:ln w="12700">
            <a:solidFill>
              <a:schemeClr val="accent2"/>
            </a:solidFill>
            <a:prstDash val="solid"/>
          </a:ln>
        </p:spPr>
      </p:sp>
      <p:sp>
        <p:nvSpPr>
          <p:cNvPr id="11" name="Pain 3"/>
          <p:cNvSpPr txBox="1"/>
          <p:nvPr/>
        </p:nvSpPr>
        <p:spPr>
          <a:xfrm>
            <a:off x="841248" y="3749040"/>
            <a:ext cx="3840480" cy="777240"/>
          </a:xfrm>
          <a:prstGeom prst="rect">
            <a:avLst/>
          </a:prstGeom>
          <a:noFill/>
          <a:ln/>
        </p:spPr>
        <p:txBody>
          <a:bodyPr wrap="square" lIns="0" tIns="0" rIns="0" bIns="0" rtlCol="0" anchor="t"/>
          <a:lstStyle/>
          <a:p>
            <a:pPr indent="0" marL="0">
              <a:spcAft>
                <a:spcPts val="300"/>
              </a:spcAft>
              <a:buNone/>
            </a:pPr>
            <a:r>
              <a:rPr lang="en-US" sz="1500" dirty="0">
                <a:solidFill>
                  <a:schemeClr val="bg1"/>
                </a:solidFill>
              </a:rPr>
              <a:t>One resignation or new section and the whole grid unravels</a:t>
            </a:r>
            <a:endParaRPr lang="en-US" sz="1500" dirty="0"/>
          </a:p>
          <a:p>
            <a:pPr indent="0" marL="0">
              <a:spcAft>
                <a:spcPts val="300"/>
              </a:spcAft>
              <a:buNone/>
            </a:pPr>
            <a:r>
              <a:rPr lang="en-US" sz="1200" dirty="0">
                <a:solidFill>
                  <a:schemeClr val="bg2"/>
                </a:solidFill>
              </a:rPr>
              <a:t>So it gets patched, never rebuilt</a:t>
            </a:r>
            <a:endParaRPr lang="en-US" sz="1500" dirty="0"/>
          </a:p>
        </p:txBody>
      </p:sp>
      <p:sp>
        <p:nvSpPr>
          <p:cNvPr id="12" name="Grid day Mon"/>
          <p:cNvSpPr txBox="1"/>
          <p:nvPr/>
        </p:nvSpPr>
        <p:spPr>
          <a:xfrm>
            <a:off x="5504688" y="1965960"/>
            <a:ext cx="581558" cy="228600"/>
          </a:xfrm>
          <a:prstGeom prst="rect">
            <a:avLst/>
          </a:prstGeom>
          <a:noFill/>
          <a:ln/>
        </p:spPr>
        <p:txBody>
          <a:bodyPr wrap="square" lIns="0" tIns="0" rIns="0" bIns="0" rtlCol="0" anchor="ctr"/>
          <a:lstStyle/>
          <a:p>
            <a:pPr algn="ctr" indent="0" marL="0">
              <a:buNone/>
            </a:pPr>
            <a:r>
              <a:rPr lang="en-US" sz="1000" dirty="0">
                <a:solidFill>
                  <a:schemeClr val="bg2"/>
                </a:solidFill>
              </a:rPr>
              <a:t>Mon</a:t>
            </a:r>
            <a:endParaRPr lang="en-US" sz="1000" dirty="0"/>
          </a:p>
        </p:txBody>
      </p:sp>
      <p:sp>
        <p:nvSpPr>
          <p:cNvPr id="13" name="Grid day Tue"/>
          <p:cNvSpPr txBox="1"/>
          <p:nvPr/>
        </p:nvSpPr>
        <p:spPr>
          <a:xfrm>
            <a:off x="6131966" y="1965960"/>
            <a:ext cx="581558" cy="228600"/>
          </a:xfrm>
          <a:prstGeom prst="rect">
            <a:avLst/>
          </a:prstGeom>
          <a:noFill/>
          <a:ln/>
        </p:spPr>
        <p:txBody>
          <a:bodyPr wrap="square" lIns="0" tIns="0" rIns="0" bIns="0" rtlCol="0" anchor="ctr"/>
          <a:lstStyle/>
          <a:p>
            <a:pPr algn="ctr" indent="0" marL="0">
              <a:buNone/>
            </a:pPr>
            <a:r>
              <a:rPr lang="en-US" sz="1000" dirty="0">
                <a:solidFill>
                  <a:schemeClr val="bg2"/>
                </a:solidFill>
              </a:rPr>
              <a:t>Tue</a:t>
            </a:r>
            <a:endParaRPr lang="en-US" sz="1000" dirty="0"/>
          </a:p>
        </p:txBody>
      </p:sp>
      <p:sp>
        <p:nvSpPr>
          <p:cNvPr id="14" name="Grid day Wed"/>
          <p:cNvSpPr txBox="1"/>
          <p:nvPr/>
        </p:nvSpPr>
        <p:spPr>
          <a:xfrm>
            <a:off x="6759245" y="1965960"/>
            <a:ext cx="581558" cy="228600"/>
          </a:xfrm>
          <a:prstGeom prst="rect">
            <a:avLst/>
          </a:prstGeom>
          <a:noFill/>
          <a:ln/>
        </p:spPr>
        <p:txBody>
          <a:bodyPr wrap="square" lIns="0" tIns="0" rIns="0" bIns="0" rtlCol="0" anchor="ctr"/>
          <a:lstStyle/>
          <a:p>
            <a:pPr algn="ctr" indent="0" marL="0">
              <a:buNone/>
            </a:pPr>
            <a:r>
              <a:rPr lang="en-US" sz="1000" dirty="0">
                <a:solidFill>
                  <a:schemeClr val="bg2"/>
                </a:solidFill>
              </a:rPr>
              <a:t>Wed</a:t>
            </a:r>
            <a:endParaRPr lang="en-US" sz="1000" dirty="0"/>
          </a:p>
        </p:txBody>
      </p:sp>
      <p:sp>
        <p:nvSpPr>
          <p:cNvPr id="15" name="Grid day Thu"/>
          <p:cNvSpPr txBox="1"/>
          <p:nvPr/>
        </p:nvSpPr>
        <p:spPr>
          <a:xfrm>
            <a:off x="7386523" y="1965960"/>
            <a:ext cx="581558" cy="228600"/>
          </a:xfrm>
          <a:prstGeom prst="rect">
            <a:avLst/>
          </a:prstGeom>
          <a:noFill/>
          <a:ln/>
        </p:spPr>
        <p:txBody>
          <a:bodyPr wrap="square" lIns="0" tIns="0" rIns="0" bIns="0" rtlCol="0" anchor="ctr"/>
          <a:lstStyle/>
          <a:p>
            <a:pPr algn="ctr" indent="0" marL="0">
              <a:buNone/>
            </a:pPr>
            <a:r>
              <a:rPr lang="en-US" sz="1000" dirty="0">
                <a:solidFill>
                  <a:schemeClr val="bg2"/>
                </a:solidFill>
              </a:rPr>
              <a:t>Thu</a:t>
            </a:r>
            <a:endParaRPr lang="en-US" sz="1000" dirty="0"/>
          </a:p>
        </p:txBody>
      </p:sp>
      <p:sp>
        <p:nvSpPr>
          <p:cNvPr id="16" name="Grid day Fri"/>
          <p:cNvSpPr txBox="1"/>
          <p:nvPr/>
        </p:nvSpPr>
        <p:spPr>
          <a:xfrm>
            <a:off x="8013802" y="1965960"/>
            <a:ext cx="581558" cy="228600"/>
          </a:xfrm>
          <a:prstGeom prst="rect">
            <a:avLst/>
          </a:prstGeom>
          <a:noFill/>
          <a:ln/>
        </p:spPr>
        <p:txBody>
          <a:bodyPr wrap="square" lIns="0" tIns="0" rIns="0" bIns="0" rtlCol="0" anchor="ctr"/>
          <a:lstStyle/>
          <a:p>
            <a:pPr algn="ctr" indent="0" marL="0">
              <a:buNone/>
            </a:pPr>
            <a:r>
              <a:rPr lang="en-US" sz="1000" dirty="0">
                <a:solidFill>
                  <a:schemeClr val="bg2"/>
                </a:solidFill>
              </a:rPr>
              <a:t>Fri</a:t>
            </a:r>
            <a:endParaRPr lang="en-US" sz="1000" dirty="0"/>
          </a:p>
        </p:txBody>
      </p:sp>
      <p:sp>
        <p:nvSpPr>
          <p:cNvPr id="17" name="Grid period P1"/>
          <p:cNvSpPr txBox="1"/>
          <p:nvPr/>
        </p:nvSpPr>
        <p:spPr>
          <a:xfrm>
            <a:off x="5074920" y="2240280"/>
            <a:ext cx="384048" cy="329184"/>
          </a:xfrm>
          <a:prstGeom prst="rect">
            <a:avLst/>
          </a:prstGeom>
          <a:noFill/>
          <a:ln/>
        </p:spPr>
        <p:txBody>
          <a:bodyPr wrap="square" lIns="0" tIns="0" rIns="0" bIns="0" rtlCol="0" anchor="ctr"/>
          <a:lstStyle/>
          <a:p>
            <a:pPr indent="0" marL="0">
              <a:buNone/>
            </a:pPr>
            <a:r>
              <a:rPr lang="en-US" sz="1000" dirty="0">
                <a:solidFill>
                  <a:schemeClr val="bg2"/>
                </a:solidFill>
              </a:rPr>
              <a:t>P1</a:t>
            </a:r>
            <a:endParaRPr lang="en-US" sz="1000" dirty="0"/>
          </a:p>
        </p:txBody>
      </p:sp>
      <p:sp>
        <p:nvSpPr>
          <p:cNvPr id="18" name="Grid cell P1 Mon"/>
          <p:cNvSpPr/>
          <p:nvPr/>
        </p:nvSpPr>
        <p:spPr>
          <a:xfrm>
            <a:off x="5504688" y="2240280"/>
            <a:ext cx="581558" cy="329184"/>
          </a:xfrm>
          <a:prstGeom prst="roundRect">
            <a:avLst>
              <a:gd name="adj" fmla="val 16667"/>
            </a:avLst>
          </a:prstGeom>
          <a:solidFill>
            <a:schemeClr val="tx2"/>
          </a:solidFill>
          <a:ln w="12700">
            <a:solidFill>
              <a:schemeClr val="tx2"/>
            </a:solidFill>
            <a:prstDash val="solid"/>
          </a:ln>
        </p:spPr>
      </p:sp>
      <p:sp>
        <p:nvSpPr>
          <p:cNvPr id="19" name="Grid text P1 Mon"/>
          <p:cNvSpPr txBox="1"/>
          <p:nvPr/>
        </p:nvSpPr>
        <p:spPr>
          <a:xfrm>
            <a:off x="5504688" y="2240280"/>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Maths</a:t>
            </a:r>
            <a:endParaRPr lang="en-US" sz="1000" dirty="0"/>
          </a:p>
        </p:txBody>
      </p:sp>
      <p:sp>
        <p:nvSpPr>
          <p:cNvPr id="20" name="Grid cell P1 Tue"/>
          <p:cNvSpPr/>
          <p:nvPr/>
        </p:nvSpPr>
        <p:spPr>
          <a:xfrm>
            <a:off x="6131966" y="2240280"/>
            <a:ext cx="581558" cy="329184"/>
          </a:xfrm>
          <a:prstGeom prst="roundRect">
            <a:avLst>
              <a:gd name="adj" fmla="val 16667"/>
            </a:avLst>
          </a:prstGeom>
          <a:solidFill>
            <a:schemeClr val="accent2">
              <a:alpha val="20000"/>
            </a:schemeClr>
          </a:solidFill>
          <a:ln w="12700">
            <a:solidFill>
              <a:schemeClr val="accent2"/>
            </a:solidFill>
            <a:prstDash val="solid"/>
          </a:ln>
        </p:spPr>
      </p:sp>
      <p:sp>
        <p:nvSpPr>
          <p:cNvPr id="21" name="Grid text P1 Tue"/>
          <p:cNvSpPr txBox="1"/>
          <p:nvPr/>
        </p:nvSpPr>
        <p:spPr>
          <a:xfrm>
            <a:off x="6131966" y="2240280"/>
            <a:ext cx="581558" cy="329184"/>
          </a:xfrm>
          <a:prstGeom prst="rect">
            <a:avLst/>
          </a:prstGeom>
          <a:noFill/>
          <a:ln/>
        </p:spPr>
        <p:txBody>
          <a:bodyPr wrap="square" lIns="0" tIns="0" rIns="0" bIns="0" rtlCol="0" anchor="ctr"/>
          <a:lstStyle/>
          <a:p>
            <a:pPr algn="ctr" indent="0" marL="0">
              <a:buNone/>
            </a:pPr>
            <a:r>
              <a:rPr lang="en-US" sz="1000" b="1" dirty="0">
                <a:solidFill>
                  <a:schemeClr val="accent2"/>
                </a:solidFill>
              </a:rPr>
              <a:t>Rao ×2</a:t>
            </a:r>
            <a:endParaRPr lang="en-US" sz="1000" dirty="0"/>
          </a:p>
        </p:txBody>
      </p:sp>
      <p:sp>
        <p:nvSpPr>
          <p:cNvPr id="22" name="Grid cell P1 Wed"/>
          <p:cNvSpPr/>
          <p:nvPr/>
        </p:nvSpPr>
        <p:spPr>
          <a:xfrm>
            <a:off x="6759245" y="2240280"/>
            <a:ext cx="581558" cy="329184"/>
          </a:xfrm>
          <a:prstGeom prst="roundRect">
            <a:avLst>
              <a:gd name="adj" fmla="val 16667"/>
            </a:avLst>
          </a:prstGeom>
          <a:solidFill>
            <a:schemeClr val="tx2"/>
          </a:solidFill>
          <a:ln w="12700">
            <a:solidFill>
              <a:schemeClr val="tx2"/>
            </a:solidFill>
            <a:prstDash val="solid"/>
          </a:ln>
        </p:spPr>
      </p:sp>
      <p:sp>
        <p:nvSpPr>
          <p:cNvPr id="23" name="Grid text P1 Wed"/>
          <p:cNvSpPr txBox="1"/>
          <p:nvPr/>
        </p:nvSpPr>
        <p:spPr>
          <a:xfrm>
            <a:off x="6759245" y="2240280"/>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Eng</a:t>
            </a:r>
            <a:endParaRPr lang="en-US" sz="1000" dirty="0"/>
          </a:p>
        </p:txBody>
      </p:sp>
      <p:sp>
        <p:nvSpPr>
          <p:cNvPr id="24" name="Grid cell P1 Thu"/>
          <p:cNvSpPr/>
          <p:nvPr/>
        </p:nvSpPr>
        <p:spPr>
          <a:xfrm>
            <a:off x="7386523" y="2240280"/>
            <a:ext cx="581558" cy="329184"/>
          </a:xfrm>
          <a:prstGeom prst="roundRect">
            <a:avLst>
              <a:gd name="adj" fmla="val 16667"/>
            </a:avLst>
          </a:prstGeom>
          <a:solidFill>
            <a:schemeClr val="tx2"/>
          </a:solidFill>
          <a:ln w="12700">
            <a:solidFill>
              <a:schemeClr val="tx2"/>
            </a:solidFill>
            <a:prstDash val="solid"/>
          </a:ln>
        </p:spPr>
      </p:sp>
      <p:sp>
        <p:nvSpPr>
          <p:cNvPr id="25" name="Grid text P1 Thu"/>
          <p:cNvSpPr txBox="1"/>
          <p:nvPr/>
        </p:nvSpPr>
        <p:spPr>
          <a:xfrm>
            <a:off x="7386523" y="2240280"/>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Hindi</a:t>
            </a:r>
            <a:endParaRPr lang="en-US" sz="1000" dirty="0"/>
          </a:p>
        </p:txBody>
      </p:sp>
      <p:sp>
        <p:nvSpPr>
          <p:cNvPr id="26" name="Grid cell P1 Fri"/>
          <p:cNvSpPr/>
          <p:nvPr/>
        </p:nvSpPr>
        <p:spPr>
          <a:xfrm>
            <a:off x="8013802" y="2240280"/>
            <a:ext cx="581558" cy="329184"/>
          </a:xfrm>
          <a:prstGeom prst="roundRect">
            <a:avLst>
              <a:gd name="adj" fmla="val 16667"/>
            </a:avLst>
          </a:prstGeom>
          <a:solidFill>
            <a:schemeClr val="tx2"/>
          </a:solidFill>
          <a:ln w="12700">
            <a:solidFill>
              <a:schemeClr val="tx2"/>
            </a:solidFill>
            <a:prstDash val="solid"/>
          </a:ln>
        </p:spPr>
      </p:sp>
      <p:sp>
        <p:nvSpPr>
          <p:cNvPr id="27" name="Grid text P1 Fri"/>
          <p:cNvSpPr txBox="1"/>
          <p:nvPr/>
        </p:nvSpPr>
        <p:spPr>
          <a:xfrm>
            <a:off x="8013802" y="2240280"/>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Sci</a:t>
            </a:r>
            <a:endParaRPr lang="en-US" sz="1000" dirty="0"/>
          </a:p>
        </p:txBody>
      </p:sp>
      <p:sp>
        <p:nvSpPr>
          <p:cNvPr id="28" name="Grid period P2"/>
          <p:cNvSpPr txBox="1"/>
          <p:nvPr/>
        </p:nvSpPr>
        <p:spPr>
          <a:xfrm>
            <a:off x="5074920" y="2615184"/>
            <a:ext cx="384048" cy="329184"/>
          </a:xfrm>
          <a:prstGeom prst="rect">
            <a:avLst/>
          </a:prstGeom>
          <a:noFill/>
          <a:ln/>
        </p:spPr>
        <p:txBody>
          <a:bodyPr wrap="square" lIns="0" tIns="0" rIns="0" bIns="0" rtlCol="0" anchor="ctr"/>
          <a:lstStyle/>
          <a:p>
            <a:pPr indent="0" marL="0">
              <a:buNone/>
            </a:pPr>
            <a:r>
              <a:rPr lang="en-US" sz="1000" dirty="0">
                <a:solidFill>
                  <a:schemeClr val="bg2"/>
                </a:solidFill>
              </a:rPr>
              <a:t>P2</a:t>
            </a:r>
            <a:endParaRPr lang="en-US" sz="1000" dirty="0"/>
          </a:p>
        </p:txBody>
      </p:sp>
      <p:sp>
        <p:nvSpPr>
          <p:cNvPr id="29" name="Grid cell P2 Mon"/>
          <p:cNvSpPr/>
          <p:nvPr/>
        </p:nvSpPr>
        <p:spPr>
          <a:xfrm>
            <a:off x="5504688" y="2615184"/>
            <a:ext cx="581558" cy="329184"/>
          </a:xfrm>
          <a:prstGeom prst="roundRect">
            <a:avLst>
              <a:gd name="adj" fmla="val 16667"/>
            </a:avLst>
          </a:prstGeom>
          <a:solidFill>
            <a:schemeClr val="tx2"/>
          </a:solidFill>
          <a:ln w="12700">
            <a:solidFill>
              <a:schemeClr val="tx2"/>
            </a:solidFill>
            <a:prstDash val="solid"/>
          </a:ln>
        </p:spPr>
      </p:sp>
      <p:sp>
        <p:nvSpPr>
          <p:cNvPr id="30" name="Grid text P2 Mon"/>
          <p:cNvSpPr txBox="1"/>
          <p:nvPr/>
        </p:nvSpPr>
        <p:spPr>
          <a:xfrm>
            <a:off x="5504688" y="2615184"/>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Sci</a:t>
            </a:r>
            <a:endParaRPr lang="en-US" sz="1000" dirty="0"/>
          </a:p>
        </p:txBody>
      </p:sp>
      <p:sp>
        <p:nvSpPr>
          <p:cNvPr id="31" name="Grid cell P2 Tue"/>
          <p:cNvSpPr/>
          <p:nvPr/>
        </p:nvSpPr>
        <p:spPr>
          <a:xfrm>
            <a:off x="6131966" y="2615184"/>
            <a:ext cx="581558" cy="329184"/>
          </a:xfrm>
          <a:prstGeom prst="roundRect">
            <a:avLst>
              <a:gd name="adj" fmla="val 16667"/>
            </a:avLst>
          </a:prstGeom>
          <a:solidFill>
            <a:schemeClr val="tx2"/>
          </a:solidFill>
          <a:ln w="12700">
            <a:solidFill>
              <a:schemeClr val="tx2"/>
            </a:solidFill>
            <a:prstDash val="solid"/>
          </a:ln>
        </p:spPr>
      </p:sp>
      <p:sp>
        <p:nvSpPr>
          <p:cNvPr id="32" name="Grid text P2 Tue"/>
          <p:cNvSpPr txBox="1"/>
          <p:nvPr/>
        </p:nvSpPr>
        <p:spPr>
          <a:xfrm>
            <a:off x="6131966" y="2615184"/>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Maths</a:t>
            </a:r>
            <a:endParaRPr lang="en-US" sz="1000" dirty="0"/>
          </a:p>
        </p:txBody>
      </p:sp>
      <p:sp>
        <p:nvSpPr>
          <p:cNvPr id="33" name="Grid cell P2 Wed"/>
          <p:cNvSpPr/>
          <p:nvPr/>
        </p:nvSpPr>
        <p:spPr>
          <a:xfrm>
            <a:off x="6759245" y="2615184"/>
            <a:ext cx="581558" cy="329184"/>
          </a:xfrm>
          <a:prstGeom prst="roundRect">
            <a:avLst>
              <a:gd name="adj" fmla="val 16667"/>
            </a:avLst>
          </a:prstGeom>
          <a:solidFill>
            <a:schemeClr val="accent3">
              <a:alpha val="20000"/>
            </a:schemeClr>
          </a:solidFill>
          <a:ln w="12700">
            <a:solidFill>
              <a:schemeClr val="accent3"/>
            </a:solidFill>
            <a:prstDash val="solid"/>
          </a:ln>
        </p:spPr>
      </p:sp>
      <p:sp>
        <p:nvSpPr>
          <p:cNvPr id="34" name="Grid text P2 Wed"/>
          <p:cNvSpPr txBox="1"/>
          <p:nvPr/>
        </p:nvSpPr>
        <p:spPr>
          <a:xfrm>
            <a:off x="6759245" y="2615184"/>
            <a:ext cx="581558" cy="329184"/>
          </a:xfrm>
          <a:prstGeom prst="rect">
            <a:avLst/>
          </a:prstGeom>
          <a:noFill/>
          <a:ln/>
        </p:spPr>
        <p:txBody>
          <a:bodyPr wrap="square" lIns="0" tIns="0" rIns="0" bIns="0" rtlCol="0" anchor="ctr"/>
          <a:lstStyle/>
          <a:p>
            <a:pPr algn="ctr" indent="0" marL="0">
              <a:buNone/>
            </a:pPr>
            <a:r>
              <a:rPr lang="en-US" sz="1000" dirty="0">
                <a:solidFill>
                  <a:schemeClr val="accent3"/>
                </a:solidFill>
              </a:rPr>
              <a:t>?</a:t>
            </a:r>
            <a:endParaRPr lang="en-US" sz="1000" dirty="0"/>
          </a:p>
        </p:txBody>
      </p:sp>
      <p:sp>
        <p:nvSpPr>
          <p:cNvPr id="35" name="Grid cell P2 Thu"/>
          <p:cNvSpPr/>
          <p:nvPr/>
        </p:nvSpPr>
        <p:spPr>
          <a:xfrm>
            <a:off x="7386523" y="2615184"/>
            <a:ext cx="581558" cy="329184"/>
          </a:xfrm>
          <a:prstGeom prst="roundRect">
            <a:avLst>
              <a:gd name="adj" fmla="val 16667"/>
            </a:avLst>
          </a:prstGeom>
          <a:solidFill>
            <a:schemeClr val="tx2"/>
          </a:solidFill>
          <a:ln w="12700">
            <a:solidFill>
              <a:schemeClr val="tx2"/>
            </a:solidFill>
            <a:prstDash val="solid"/>
          </a:ln>
        </p:spPr>
      </p:sp>
      <p:sp>
        <p:nvSpPr>
          <p:cNvPr id="36" name="Grid text P2 Thu"/>
          <p:cNvSpPr txBox="1"/>
          <p:nvPr/>
        </p:nvSpPr>
        <p:spPr>
          <a:xfrm>
            <a:off x="7386523" y="2615184"/>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Eng</a:t>
            </a:r>
            <a:endParaRPr lang="en-US" sz="1000" dirty="0"/>
          </a:p>
        </p:txBody>
      </p:sp>
      <p:sp>
        <p:nvSpPr>
          <p:cNvPr id="37" name="Grid cell P2 Fri"/>
          <p:cNvSpPr/>
          <p:nvPr/>
        </p:nvSpPr>
        <p:spPr>
          <a:xfrm>
            <a:off x="8013802" y="2615184"/>
            <a:ext cx="581558" cy="329184"/>
          </a:xfrm>
          <a:prstGeom prst="roundRect">
            <a:avLst>
              <a:gd name="adj" fmla="val 16667"/>
            </a:avLst>
          </a:prstGeom>
          <a:solidFill>
            <a:schemeClr val="accent2">
              <a:alpha val="20000"/>
            </a:schemeClr>
          </a:solidFill>
          <a:ln w="12700">
            <a:solidFill>
              <a:schemeClr val="accent2"/>
            </a:solidFill>
            <a:prstDash val="solid"/>
          </a:ln>
        </p:spPr>
      </p:sp>
      <p:sp>
        <p:nvSpPr>
          <p:cNvPr id="38" name="Grid text P2 Fri"/>
          <p:cNvSpPr txBox="1"/>
          <p:nvPr/>
        </p:nvSpPr>
        <p:spPr>
          <a:xfrm>
            <a:off x="8013802" y="2615184"/>
            <a:ext cx="581558" cy="329184"/>
          </a:xfrm>
          <a:prstGeom prst="rect">
            <a:avLst/>
          </a:prstGeom>
          <a:noFill/>
          <a:ln/>
        </p:spPr>
        <p:txBody>
          <a:bodyPr wrap="square" lIns="0" tIns="0" rIns="0" bIns="0" rtlCol="0" anchor="ctr"/>
          <a:lstStyle/>
          <a:p>
            <a:pPr algn="ctr" indent="0" marL="0">
              <a:buNone/>
            </a:pPr>
            <a:r>
              <a:rPr lang="en-US" sz="1000" b="1" dirty="0">
                <a:solidFill>
                  <a:schemeClr val="accent2"/>
                </a:solidFill>
              </a:rPr>
              <a:t>Lab ×2</a:t>
            </a:r>
            <a:endParaRPr lang="en-US" sz="1000" dirty="0"/>
          </a:p>
        </p:txBody>
      </p:sp>
      <p:sp>
        <p:nvSpPr>
          <p:cNvPr id="39" name="Grid period P3"/>
          <p:cNvSpPr txBox="1"/>
          <p:nvPr/>
        </p:nvSpPr>
        <p:spPr>
          <a:xfrm>
            <a:off x="5074920" y="2990088"/>
            <a:ext cx="384048" cy="329184"/>
          </a:xfrm>
          <a:prstGeom prst="rect">
            <a:avLst/>
          </a:prstGeom>
          <a:noFill/>
          <a:ln/>
        </p:spPr>
        <p:txBody>
          <a:bodyPr wrap="square" lIns="0" tIns="0" rIns="0" bIns="0" rtlCol="0" anchor="ctr"/>
          <a:lstStyle/>
          <a:p>
            <a:pPr indent="0" marL="0">
              <a:buNone/>
            </a:pPr>
            <a:r>
              <a:rPr lang="en-US" sz="1000" dirty="0">
                <a:solidFill>
                  <a:schemeClr val="bg2"/>
                </a:solidFill>
              </a:rPr>
              <a:t>P3</a:t>
            </a:r>
            <a:endParaRPr lang="en-US" sz="1000" dirty="0"/>
          </a:p>
        </p:txBody>
      </p:sp>
      <p:sp>
        <p:nvSpPr>
          <p:cNvPr id="40" name="Grid cell P3 Mon"/>
          <p:cNvSpPr/>
          <p:nvPr/>
        </p:nvSpPr>
        <p:spPr>
          <a:xfrm>
            <a:off x="5504688" y="2990088"/>
            <a:ext cx="581558" cy="329184"/>
          </a:xfrm>
          <a:prstGeom prst="roundRect">
            <a:avLst>
              <a:gd name="adj" fmla="val 16667"/>
            </a:avLst>
          </a:prstGeom>
          <a:solidFill>
            <a:schemeClr val="accent2">
              <a:alpha val="20000"/>
            </a:schemeClr>
          </a:solidFill>
          <a:ln w="12700">
            <a:solidFill>
              <a:schemeClr val="accent2"/>
            </a:solidFill>
            <a:prstDash val="solid"/>
          </a:ln>
        </p:spPr>
      </p:sp>
      <p:sp>
        <p:nvSpPr>
          <p:cNvPr id="41" name="Grid text P3 Mon"/>
          <p:cNvSpPr txBox="1"/>
          <p:nvPr/>
        </p:nvSpPr>
        <p:spPr>
          <a:xfrm>
            <a:off x="5504688" y="2990088"/>
            <a:ext cx="581558" cy="329184"/>
          </a:xfrm>
          <a:prstGeom prst="rect">
            <a:avLst/>
          </a:prstGeom>
          <a:noFill/>
          <a:ln/>
        </p:spPr>
        <p:txBody>
          <a:bodyPr wrap="square" lIns="0" tIns="0" rIns="0" bIns="0" rtlCol="0" anchor="ctr"/>
          <a:lstStyle/>
          <a:p>
            <a:pPr algn="ctr" indent="0" marL="0">
              <a:buNone/>
            </a:pPr>
            <a:r>
              <a:rPr lang="en-US" sz="1000" b="1" dirty="0">
                <a:solidFill>
                  <a:schemeClr val="accent2"/>
                </a:solidFill>
              </a:rPr>
              <a:t>Iyer ×2</a:t>
            </a:r>
            <a:endParaRPr lang="en-US" sz="1000" dirty="0"/>
          </a:p>
        </p:txBody>
      </p:sp>
      <p:sp>
        <p:nvSpPr>
          <p:cNvPr id="42" name="Grid cell P3 Tue"/>
          <p:cNvSpPr/>
          <p:nvPr/>
        </p:nvSpPr>
        <p:spPr>
          <a:xfrm>
            <a:off x="6131966" y="2990088"/>
            <a:ext cx="581558" cy="329184"/>
          </a:xfrm>
          <a:prstGeom prst="roundRect">
            <a:avLst>
              <a:gd name="adj" fmla="val 16667"/>
            </a:avLst>
          </a:prstGeom>
          <a:solidFill>
            <a:schemeClr val="tx2"/>
          </a:solidFill>
          <a:ln w="12700">
            <a:solidFill>
              <a:schemeClr val="tx2"/>
            </a:solidFill>
            <a:prstDash val="solid"/>
          </a:ln>
        </p:spPr>
      </p:sp>
      <p:sp>
        <p:nvSpPr>
          <p:cNvPr id="43" name="Grid text P3 Tue"/>
          <p:cNvSpPr txBox="1"/>
          <p:nvPr/>
        </p:nvSpPr>
        <p:spPr>
          <a:xfrm>
            <a:off x="6131966" y="2990088"/>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Eng</a:t>
            </a:r>
            <a:endParaRPr lang="en-US" sz="1000" dirty="0"/>
          </a:p>
        </p:txBody>
      </p:sp>
      <p:sp>
        <p:nvSpPr>
          <p:cNvPr id="44" name="Grid cell P3 Wed"/>
          <p:cNvSpPr/>
          <p:nvPr/>
        </p:nvSpPr>
        <p:spPr>
          <a:xfrm>
            <a:off x="6759245" y="2990088"/>
            <a:ext cx="581558" cy="329184"/>
          </a:xfrm>
          <a:prstGeom prst="roundRect">
            <a:avLst>
              <a:gd name="adj" fmla="val 16667"/>
            </a:avLst>
          </a:prstGeom>
          <a:solidFill>
            <a:schemeClr val="tx2"/>
          </a:solidFill>
          <a:ln w="12700">
            <a:solidFill>
              <a:schemeClr val="tx2"/>
            </a:solidFill>
            <a:prstDash val="solid"/>
          </a:ln>
        </p:spPr>
      </p:sp>
      <p:sp>
        <p:nvSpPr>
          <p:cNvPr id="45" name="Grid text P3 Wed"/>
          <p:cNvSpPr txBox="1"/>
          <p:nvPr/>
        </p:nvSpPr>
        <p:spPr>
          <a:xfrm>
            <a:off x="6759245" y="2990088"/>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Maths</a:t>
            </a:r>
            <a:endParaRPr lang="en-US" sz="1000" dirty="0"/>
          </a:p>
        </p:txBody>
      </p:sp>
      <p:sp>
        <p:nvSpPr>
          <p:cNvPr id="46" name="Grid cell P3 Thu"/>
          <p:cNvSpPr/>
          <p:nvPr/>
        </p:nvSpPr>
        <p:spPr>
          <a:xfrm>
            <a:off x="7386523" y="2990088"/>
            <a:ext cx="581558" cy="329184"/>
          </a:xfrm>
          <a:prstGeom prst="roundRect">
            <a:avLst>
              <a:gd name="adj" fmla="val 16667"/>
            </a:avLst>
          </a:prstGeom>
          <a:solidFill>
            <a:schemeClr val="accent3">
              <a:alpha val="20000"/>
            </a:schemeClr>
          </a:solidFill>
          <a:ln w="12700">
            <a:solidFill>
              <a:schemeClr val="accent3"/>
            </a:solidFill>
            <a:prstDash val="solid"/>
          </a:ln>
        </p:spPr>
      </p:sp>
      <p:sp>
        <p:nvSpPr>
          <p:cNvPr id="47" name="Grid text P3 Thu"/>
          <p:cNvSpPr txBox="1"/>
          <p:nvPr/>
        </p:nvSpPr>
        <p:spPr>
          <a:xfrm>
            <a:off x="7386523" y="2990088"/>
            <a:ext cx="581558" cy="329184"/>
          </a:xfrm>
          <a:prstGeom prst="rect">
            <a:avLst/>
          </a:prstGeom>
          <a:noFill/>
          <a:ln/>
        </p:spPr>
        <p:txBody>
          <a:bodyPr wrap="square" lIns="0" tIns="0" rIns="0" bIns="0" rtlCol="0" anchor="ctr"/>
          <a:lstStyle/>
          <a:p>
            <a:pPr algn="ctr" indent="0" marL="0">
              <a:buNone/>
            </a:pPr>
            <a:r>
              <a:rPr lang="en-US" sz="1000" dirty="0">
                <a:solidFill>
                  <a:schemeClr val="accent3"/>
                </a:solidFill>
              </a:rPr>
              <a:t>?</a:t>
            </a:r>
            <a:endParaRPr lang="en-US" sz="1000" dirty="0"/>
          </a:p>
        </p:txBody>
      </p:sp>
      <p:sp>
        <p:nvSpPr>
          <p:cNvPr id="48" name="Grid cell P3 Fri"/>
          <p:cNvSpPr/>
          <p:nvPr/>
        </p:nvSpPr>
        <p:spPr>
          <a:xfrm>
            <a:off x="8013802" y="2990088"/>
            <a:ext cx="581558" cy="329184"/>
          </a:xfrm>
          <a:prstGeom prst="roundRect">
            <a:avLst>
              <a:gd name="adj" fmla="val 16667"/>
            </a:avLst>
          </a:prstGeom>
          <a:solidFill>
            <a:schemeClr val="tx2"/>
          </a:solidFill>
          <a:ln w="12700">
            <a:solidFill>
              <a:schemeClr val="tx2"/>
            </a:solidFill>
            <a:prstDash val="solid"/>
          </a:ln>
        </p:spPr>
      </p:sp>
      <p:sp>
        <p:nvSpPr>
          <p:cNvPr id="49" name="Grid text P3 Fri"/>
          <p:cNvSpPr txBox="1"/>
          <p:nvPr/>
        </p:nvSpPr>
        <p:spPr>
          <a:xfrm>
            <a:off x="8013802" y="2990088"/>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PE</a:t>
            </a:r>
            <a:endParaRPr lang="en-US" sz="1000" dirty="0"/>
          </a:p>
        </p:txBody>
      </p:sp>
      <p:sp>
        <p:nvSpPr>
          <p:cNvPr id="50" name="Grid period P4"/>
          <p:cNvSpPr txBox="1"/>
          <p:nvPr/>
        </p:nvSpPr>
        <p:spPr>
          <a:xfrm>
            <a:off x="5074920" y="3364992"/>
            <a:ext cx="384048" cy="329184"/>
          </a:xfrm>
          <a:prstGeom prst="rect">
            <a:avLst/>
          </a:prstGeom>
          <a:noFill/>
          <a:ln/>
        </p:spPr>
        <p:txBody>
          <a:bodyPr wrap="square" lIns="0" tIns="0" rIns="0" bIns="0" rtlCol="0" anchor="ctr"/>
          <a:lstStyle/>
          <a:p>
            <a:pPr indent="0" marL="0">
              <a:buNone/>
            </a:pPr>
            <a:r>
              <a:rPr lang="en-US" sz="1000" dirty="0">
                <a:solidFill>
                  <a:schemeClr val="bg2"/>
                </a:solidFill>
              </a:rPr>
              <a:t>P4</a:t>
            </a:r>
            <a:endParaRPr lang="en-US" sz="1000" dirty="0"/>
          </a:p>
        </p:txBody>
      </p:sp>
      <p:sp>
        <p:nvSpPr>
          <p:cNvPr id="51" name="Grid cell P4 Mon"/>
          <p:cNvSpPr/>
          <p:nvPr/>
        </p:nvSpPr>
        <p:spPr>
          <a:xfrm>
            <a:off x="5504688" y="3364992"/>
            <a:ext cx="581558" cy="329184"/>
          </a:xfrm>
          <a:prstGeom prst="roundRect">
            <a:avLst>
              <a:gd name="adj" fmla="val 16667"/>
            </a:avLst>
          </a:prstGeom>
          <a:solidFill>
            <a:schemeClr val="tx2"/>
          </a:solidFill>
          <a:ln w="12700">
            <a:solidFill>
              <a:schemeClr val="tx2"/>
            </a:solidFill>
            <a:prstDash val="solid"/>
          </a:ln>
        </p:spPr>
      </p:sp>
      <p:sp>
        <p:nvSpPr>
          <p:cNvPr id="52" name="Grid text P4 Mon"/>
          <p:cNvSpPr txBox="1"/>
          <p:nvPr/>
        </p:nvSpPr>
        <p:spPr>
          <a:xfrm>
            <a:off x="5504688" y="3364992"/>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Hindi</a:t>
            </a:r>
            <a:endParaRPr lang="en-US" sz="1000" dirty="0"/>
          </a:p>
        </p:txBody>
      </p:sp>
      <p:sp>
        <p:nvSpPr>
          <p:cNvPr id="53" name="Grid cell P4 Tue"/>
          <p:cNvSpPr/>
          <p:nvPr/>
        </p:nvSpPr>
        <p:spPr>
          <a:xfrm>
            <a:off x="6131966" y="3364992"/>
            <a:ext cx="581558" cy="329184"/>
          </a:xfrm>
          <a:prstGeom prst="roundRect">
            <a:avLst>
              <a:gd name="adj" fmla="val 16667"/>
            </a:avLst>
          </a:prstGeom>
          <a:solidFill>
            <a:schemeClr val="accent3">
              <a:alpha val="20000"/>
            </a:schemeClr>
          </a:solidFill>
          <a:ln w="12700">
            <a:solidFill>
              <a:schemeClr val="accent3"/>
            </a:solidFill>
            <a:prstDash val="solid"/>
          </a:ln>
        </p:spPr>
      </p:sp>
      <p:sp>
        <p:nvSpPr>
          <p:cNvPr id="54" name="Grid text P4 Tue"/>
          <p:cNvSpPr txBox="1"/>
          <p:nvPr/>
        </p:nvSpPr>
        <p:spPr>
          <a:xfrm>
            <a:off x="6131966" y="3364992"/>
            <a:ext cx="581558" cy="329184"/>
          </a:xfrm>
          <a:prstGeom prst="rect">
            <a:avLst/>
          </a:prstGeom>
          <a:noFill/>
          <a:ln/>
        </p:spPr>
        <p:txBody>
          <a:bodyPr wrap="square" lIns="0" tIns="0" rIns="0" bIns="0" rtlCol="0" anchor="ctr"/>
          <a:lstStyle/>
          <a:p>
            <a:pPr algn="ctr" indent="0" marL="0">
              <a:buNone/>
            </a:pPr>
            <a:r>
              <a:rPr lang="en-US" sz="1000" dirty="0">
                <a:solidFill>
                  <a:schemeClr val="accent3"/>
                </a:solidFill>
              </a:rPr>
              <a:t>?</a:t>
            </a:r>
            <a:endParaRPr lang="en-US" sz="1000" dirty="0"/>
          </a:p>
        </p:txBody>
      </p:sp>
      <p:sp>
        <p:nvSpPr>
          <p:cNvPr id="55" name="Grid cell P4 Wed"/>
          <p:cNvSpPr/>
          <p:nvPr/>
        </p:nvSpPr>
        <p:spPr>
          <a:xfrm>
            <a:off x="6759245" y="3364992"/>
            <a:ext cx="581558" cy="329184"/>
          </a:xfrm>
          <a:prstGeom prst="roundRect">
            <a:avLst>
              <a:gd name="adj" fmla="val 16667"/>
            </a:avLst>
          </a:prstGeom>
          <a:solidFill>
            <a:schemeClr val="tx2"/>
          </a:solidFill>
          <a:ln w="12700">
            <a:solidFill>
              <a:schemeClr val="tx2"/>
            </a:solidFill>
            <a:prstDash val="solid"/>
          </a:ln>
        </p:spPr>
      </p:sp>
      <p:sp>
        <p:nvSpPr>
          <p:cNvPr id="56" name="Grid text P4 Wed"/>
          <p:cNvSpPr txBox="1"/>
          <p:nvPr/>
        </p:nvSpPr>
        <p:spPr>
          <a:xfrm>
            <a:off x="6759245" y="3364992"/>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Sci</a:t>
            </a:r>
            <a:endParaRPr lang="en-US" sz="1000" dirty="0"/>
          </a:p>
        </p:txBody>
      </p:sp>
      <p:sp>
        <p:nvSpPr>
          <p:cNvPr id="57" name="Grid cell P4 Thu"/>
          <p:cNvSpPr/>
          <p:nvPr/>
        </p:nvSpPr>
        <p:spPr>
          <a:xfrm>
            <a:off x="7386523" y="3364992"/>
            <a:ext cx="581558" cy="329184"/>
          </a:xfrm>
          <a:prstGeom prst="roundRect">
            <a:avLst>
              <a:gd name="adj" fmla="val 16667"/>
            </a:avLst>
          </a:prstGeom>
          <a:solidFill>
            <a:schemeClr val="tx2"/>
          </a:solidFill>
          <a:ln w="12700">
            <a:solidFill>
              <a:schemeClr val="tx2"/>
            </a:solidFill>
            <a:prstDash val="solid"/>
          </a:ln>
        </p:spPr>
      </p:sp>
      <p:sp>
        <p:nvSpPr>
          <p:cNvPr id="58" name="Grid text P4 Thu"/>
          <p:cNvSpPr txBox="1"/>
          <p:nvPr/>
        </p:nvSpPr>
        <p:spPr>
          <a:xfrm>
            <a:off x="7386523" y="3364992"/>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Maths</a:t>
            </a:r>
            <a:endParaRPr lang="en-US" sz="1000" dirty="0"/>
          </a:p>
        </p:txBody>
      </p:sp>
      <p:sp>
        <p:nvSpPr>
          <p:cNvPr id="59" name="Grid cell P4 Fri"/>
          <p:cNvSpPr/>
          <p:nvPr/>
        </p:nvSpPr>
        <p:spPr>
          <a:xfrm>
            <a:off x="8013802" y="3364992"/>
            <a:ext cx="581558" cy="329184"/>
          </a:xfrm>
          <a:prstGeom prst="roundRect">
            <a:avLst>
              <a:gd name="adj" fmla="val 16667"/>
            </a:avLst>
          </a:prstGeom>
          <a:solidFill>
            <a:schemeClr val="tx2"/>
          </a:solidFill>
          <a:ln w="12700">
            <a:solidFill>
              <a:schemeClr val="tx2"/>
            </a:solidFill>
            <a:prstDash val="solid"/>
          </a:ln>
        </p:spPr>
      </p:sp>
      <p:sp>
        <p:nvSpPr>
          <p:cNvPr id="60" name="Grid text P4 Fri"/>
          <p:cNvSpPr txBox="1"/>
          <p:nvPr/>
        </p:nvSpPr>
        <p:spPr>
          <a:xfrm>
            <a:off x="8013802" y="3364992"/>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Art</a:t>
            </a:r>
            <a:endParaRPr lang="en-US" sz="1000" dirty="0"/>
          </a:p>
        </p:txBody>
      </p:sp>
      <p:sp>
        <p:nvSpPr>
          <p:cNvPr id="61" name="Grid period P5"/>
          <p:cNvSpPr txBox="1"/>
          <p:nvPr/>
        </p:nvSpPr>
        <p:spPr>
          <a:xfrm>
            <a:off x="5074920" y="3739896"/>
            <a:ext cx="384048" cy="329184"/>
          </a:xfrm>
          <a:prstGeom prst="rect">
            <a:avLst/>
          </a:prstGeom>
          <a:noFill/>
          <a:ln/>
        </p:spPr>
        <p:txBody>
          <a:bodyPr wrap="square" lIns="0" tIns="0" rIns="0" bIns="0" rtlCol="0" anchor="ctr"/>
          <a:lstStyle/>
          <a:p>
            <a:pPr indent="0" marL="0">
              <a:buNone/>
            </a:pPr>
            <a:r>
              <a:rPr lang="en-US" sz="1000" dirty="0">
                <a:solidFill>
                  <a:schemeClr val="bg2"/>
                </a:solidFill>
              </a:rPr>
              <a:t>P5</a:t>
            </a:r>
            <a:endParaRPr lang="en-US" sz="1000" dirty="0"/>
          </a:p>
        </p:txBody>
      </p:sp>
      <p:sp>
        <p:nvSpPr>
          <p:cNvPr id="62" name="Grid cell P5 Mon"/>
          <p:cNvSpPr/>
          <p:nvPr/>
        </p:nvSpPr>
        <p:spPr>
          <a:xfrm>
            <a:off x="5504688" y="3739896"/>
            <a:ext cx="581558" cy="329184"/>
          </a:xfrm>
          <a:prstGeom prst="roundRect">
            <a:avLst>
              <a:gd name="adj" fmla="val 16667"/>
            </a:avLst>
          </a:prstGeom>
          <a:solidFill>
            <a:schemeClr val="tx2"/>
          </a:solidFill>
          <a:ln w="12700">
            <a:solidFill>
              <a:schemeClr val="tx2"/>
            </a:solidFill>
            <a:prstDash val="solid"/>
          </a:ln>
        </p:spPr>
      </p:sp>
      <p:sp>
        <p:nvSpPr>
          <p:cNvPr id="63" name="Grid text P5 Mon"/>
          <p:cNvSpPr txBox="1"/>
          <p:nvPr/>
        </p:nvSpPr>
        <p:spPr>
          <a:xfrm>
            <a:off x="5504688" y="3739896"/>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PE</a:t>
            </a:r>
            <a:endParaRPr lang="en-US" sz="1000" dirty="0"/>
          </a:p>
        </p:txBody>
      </p:sp>
      <p:sp>
        <p:nvSpPr>
          <p:cNvPr id="64" name="Grid cell P5 Tue"/>
          <p:cNvSpPr/>
          <p:nvPr/>
        </p:nvSpPr>
        <p:spPr>
          <a:xfrm>
            <a:off x="6131966" y="3739896"/>
            <a:ext cx="581558" cy="329184"/>
          </a:xfrm>
          <a:prstGeom prst="roundRect">
            <a:avLst>
              <a:gd name="adj" fmla="val 16667"/>
            </a:avLst>
          </a:prstGeom>
          <a:solidFill>
            <a:schemeClr val="tx2"/>
          </a:solidFill>
          <a:ln w="12700">
            <a:solidFill>
              <a:schemeClr val="tx2"/>
            </a:solidFill>
            <a:prstDash val="solid"/>
          </a:ln>
        </p:spPr>
      </p:sp>
      <p:sp>
        <p:nvSpPr>
          <p:cNvPr id="65" name="Grid text P5 Tue"/>
          <p:cNvSpPr txBox="1"/>
          <p:nvPr/>
        </p:nvSpPr>
        <p:spPr>
          <a:xfrm>
            <a:off x="6131966" y="3739896"/>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Sci</a:t>
            </a:r>
            <a:endParaRPr lang="en-US" sz="1000" dirty="0"/>
          </a:p>
        </p:txBody>
      </p:sp>
      <p:sp>
        <p:nvSpPr>
          <p:cNvPr id="66" name="Grid cell P5 Wed"/>
          <p:cNvSpPr/>
          <p:nvPr/>
        </p:nvSpPr>
        <p:spPr>
          <a:xfrm>
            <a:off x="6759245" y="3739896"/>
            <a:ext cx="581558" cy="329184"/>
          </a:xfrm>
          <a:prstGeom prst="roundRect">
            <a:avLst>
              <a:gd name="adj" fmla="val 16667"/>
            </a:avLst>
          </a:prstGeom>
          <a:solidFill>
            <a:schemeClr val="accent2">
              <a:alpha val="20000"/>
            </a:schemeClr>
          </a:solidFill>
          <a:ln w="12700">
            <a:solidFill>
              <a:schemeClr val="accent2"/>
            </a:solidFill>
            <a:prstDash val="solid"/>
          </a:ln>
        </p:spPr>
      </p:sp>
      <p:sp>
        <p:nvSpPr>
          <p:cNvPr id="67" name="Grid text P5 Wed"/>
          <p:cNvSpPr txBox="1"/>
          <p:nvPr/>
        </p:nvSpPr>
        <p:spPr>
          <a:xfrm>
            <a:off x="6759245" y="3739896"/>
            <a:ext cx="581558" cy="329184"/>
          </a:xfrm>
          <a:prstGeom prst="rect">
            <a:avLst/>
          </a:prstGeom>
          <a:noFill/>
          <a:ln/>
        </p:spPr>
        <p:txBody>
          <a:bodyPr wrap="square" lIns="0" tIns="0" rIns="0" bIns="0" rtlCol="0" anchor="ctr"/>
          <a:lstStyle/>
          <a:p>
            <a:pPr algn="ctr" indent="0" marL="0">
              <a:buNone/>
            </a:pPr>
            <a:r>
              <a:rPr lang="en-US" sz="1000" b="1" dirty="0">
                <a:solidFill>
                  <a:schemeClr val="accent2"/>
                </a:solidFill>
              </a:rPr>
              <a:t>Rao ×2</a:t>
            </a:r>
            <a:endParaRPr lang="en-US" sz="1000" dirty="0"/>
          </a:p>
        </p:txBody>
      </p:sp>
      <p:sp>
        <p:nvSpPr>
          <p:cNvPr id="68" name="Grid cell P5 Thu"/>
          <p:cNvSpPr/>
          <p:nvPr/>
        </p:nvSpPr>
        <p:spPr>
          <a:xfrm>
            <a:off x="7386523" y="3739896"/>
            <a:ext cx="581558" cy="329184"/>
          </a:xfrm>
          <a:prstGeom prst="roundRect">
            <a:avLst>
              <a:gd name="adj" fmla="val 16667"/>
            </a:avLst>
          </a:prstGeom>
          <a:solidFill>
            <a:schemeClr val="tx2"/>
          </a:solidFill>
          <a:ln w="12700">
            <a:solidFill>
              <a:schemeClr val="tx2"/>
            </a:solidFill>
            <a:prstDash val="solid"/>
          </a:ln>
        </p:spPr>
      </p:sp>
      <p:sp>
        <p:nvSpPr>
          <p:cNvPr id="69" name="Grid text P5 Thu"/>
          <p:cNvSpPr txBox="1"/>
          <p:nvPr/>
        </p:nvSpPr>
        <p:spPr>
          <a:xfrm>
            <a:off x="7386523" y="3739896"/>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Eng</a:t>
            </a:r>
            <a:endParaRPr lang="en-US" sz="1000" dirty="0"/>
          </a:p>
        </p:txBody>
      </p:sp>
      <p:sp>
        <p:nvSpPr>
          <p:cNvPr id="70" name="Grid cell P5 Fri"/>
          <p:cNvSpPr/>
          <p:nvPr/>
        </p:nvSpPr>
        <p:spPr>
          <a:xfrm>
            <a:off x="8013802" y="3739896"/>
            <a:ext cx="581558" cy="329184"/>
          </a:xfrm>
          <a:prstGeom prst="roundRect">
            <a:avLst>
              <a:gd name="adj" fmla="val 16667"/>
            </a:avLst>
          </a:prstGeom>
          <a:solidFill>
            <a:schemeClr val="tx2"/>
          </a:solidFill>
          <a:ln w="12700">
            <a:solidFill>
              <a:schemeClr val="tx2"/>
            </a:solidFill>
            <a:prstDash val="solid"/>
          </a:ln>
        </p:spPr>
      </p:sp>
      <p:sp>
        <p:nvSpPr>
          <p:cNvPr id="71" name="Grid text P5 Fri"/>
          <p:cNvSpPr txBox="1"/>
          <p:nvPr/>
        </p:nvSpPr>
        <p:spPr>
          <a:xfrm>
            <a:off x="8013802" y="3739896"/>
            <a:ext cx="581558" cy="329184"/>
          </a:xfrm>
          <a:prstGeom prst="rect">
            <a:avLst/>
          </a:prstGeom>
          <a:noFill/>
          <a:ln/>
        </p:spPr>
        <p:txBody>
          <a:bodyPr wrap="square" lIns="0" tIns="0" rIns="0" bIns="0" rtlCol="0" anchor="ctr"/>
          <a:lstStyle/>
          <a:p>
            <a:pPr algn="ctr" indent="0" marL="0">
              <a:buNone/>
            </a:pPr>
            <a:r>
              <a:rPr lang="en-US" sz="1000" dirty="0">
                <a:solidFill>
                  <a:schemeClr val="bg1"/>
                </a:solidFill>
              </a:rPr>
              <a:t>Maths</a:t>
            </a:r>
            <a:endParaRPr lang="en-US" sz="1000" dirty="0"/>
          </a:p>
        </p:txBody>
      </p:sp>
      <p:sp>
        <p:nvSpPr>
          <p:cNvPr id="72" name="Legend clash swatch"/>
          <p:cNvSpPr/>
          <p:nvPr/>
        </p:nvSpPr>
        <p:spPr>
          <a:xfrm>
            <a:off x="5074920" y="4279392"/>
            <a:ext cx="118872" cy="118872"/>
          </a:xfrm>
          <a:prstGeom prst="roundRect">
            <a:avLst>
              <a:gd name="adj" fmla="val 23077"/>
            </a:avLst>
          </a:prstGeom>
          <a:solidFill>
            <a:schemeClr val="accent2"/>
          </a:solidFill>
          <a:ln w="12700">
            <a:solidFill>
              <a:schemeClr val="accent2"/>
            </a:solidFill>
            <a:prstDash val="solid"/>
          </a:ln>
        </p:spPr>
      </p:sp>
      <p:sp>
        <p:nvSpPr>
          <p:cNvPr id="73" name="Legend clash"/>
          <p:cNvSpPr txBox="1"/>
          <p:nvPr/>
        </p:nvSpPr>
        <p:spPr>
          <a:xfrm>
            <a:off x="5257800" y="4206240"/>
            <a:ext cx="1188720" cy="274320"/>
          </a:xfrm>
          <a:prstGeom prst="rect">
            <a:avLst/>
          </a:prstGeom>
          <a:noFill/>
          <a:ln/>
        </p:spPr>
        <p:txBody>
          <a:bodyPr wrap="square" lIns="0" tIns="0" rIns="0" bIns="0" rtlCol="0" anchor="ctr"/>
          <a:lstStyle/>
          <a:p>
            <a:pPr indent="0" marL="0">
              <a:buNone/>
            </a:pPr>
            <a:r>
              <a:rPr lang="en-US" sz="1000" dirty="0">
                <a:solidFill>
                  <a:schemeClr val="bg2"/>
                </a:solidFill>
              </a:rPr>
              <a:t>Double-booked</a:t>
            </a:r>
            <a:endParaRPr lang="en-US" sz="1000" dirty="0"/>
          </a:p>
        </p:txBody>
      </p:sp>
      <p:sp>
        <p:nvSpPr>
          <p:cNvPr id="74" name="Legend gap swatch"/>
          <p:cNvSpPr/>
          <p:nvPr/>
        </p:nvSpPr>
        <p:spPr>
          <a:xfrm>
            <a:off x="6492240" y="4279392"/>
            <a:ext cx="118872" cy="118872"/>
          </a:xfrm>
          <a:prstGeom prst="roundRect">
            <a:avLst>
              <a:gd name="adj" fmla="val 23077"/>
            </a:avLst>
          </a:prstGeom>
          <a:solidFill>
            <a:schemeClr val="accent3"/>
          </a:solidFill>
          <a:ln w="12700">
            <a:solidFill>
              <a:schemeClr val="accent3"/>
            </a:solidFill>
            <a:prstDash val="solid"/>
          </a:ln>
        </p:spPr>
      </p:sp>
      <p:sp>
        <p:nvSpPr>
          <p:cNvPr id="75" name="Legend gap"/>
          <p:cNvSpPr txBox="1"/>
          <p:nvPr/>
        </p:nvSpPr>
        <p:spPr>
          <a:xfrm>
            <a:off x="6675120" y="4206240"/>
            <a:ext cx="1280160" cy="274320"/>
          </a:xfrm>
          <a:prstGeom prst="rect">
            <a:avLst/>
          </a:prstGeom>
          <a:noFill/>
          <a:ln/>
        </p:spPr>
        <p:txBody>
          <a:bodyPr wrap="square" lIns="0" tIns="0" rIns="0" bIns="0" rtlCol="0" anchor="ctr"/>
          <a:lstStyle/>
          <a:p>
            <a:pPr indent="0" marL="0">
              <a:buNone/>
            </a:pPr>
            <a:r>
              <a:rPr lang="en-US" sz="1000" dirty="0">
                <a:solidFill>
                  <a:schemeClr val="bg2"/>
                </a:solidFill>
              </a:rPr>
              <a:t>Unfilled period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tep number ring"/>
          <p:cNvSpPr/>
          <p:nvPr/>
        </p:nvSpPr>
        <p:spPr>
          <a:xfrm>
            <a:off x="548640" y="457200"/>
            <a:ext cx="292608" cy="292608"/>
          </a:xfrm>
          <a:prstGeom prst="ellipse">
            <a:avLst/>
          </a:prstGeom>
          <a:solidFill>
            <a:schemeClr val="tx1"/>
          </a:solidFill>
          <a:ln w="28575">
            <a:solidFill>
              <a:schemeClr val="accent1"/>
            </a:solidFill>
            <a:prstDash val="solid"/>
          </a:ln>
        </p:spPr>
      </p:sp>
      <p:sp>
        <p:nvSpPr>
          <p:cNvPr id="3" name="Step number"/>
          <p:cNvSpPr txBox="1"/>
          <p:nvPr/>
        </p:nvSpPr>
        <p:spPr>
          <a:xfrm>
            <a:off x="548640" y="457200"/>
            <a:ext cx="292608" cy="292608"/>
          </a:xfrm>
          <a:prstGeom prst="rect">
            <a:avLst/>
          </a:prstGeom>
          <a:noFill/>
          <a:ln/>
        </p:spPr>
        <p:txBody>
          <a:bodyPr wrap="square" lIns="0" tIns="0" rIns="0" bIns="0" rtlCol="0" anchor="ctr"/>
          <a:lstStyle/>
          <a:p>
            <a:pPr algn="ctr" indent="0" marL="0">
              <a:buNone/>
            </a:pPr>
            <a:r>
              <a:rPr lang="en-US" sz="1200" b="1" dirty="0">
                <a:solidFill>
                  <a:schemeClr val="accent1"/>
                </a:solidFill>
              </a:rPr>
              <a:t>2</a:t>
            </a:r>
            <a:endParaRPr lang="en-US" sz="1200" dirty="0"/>
          </a:p>
        </p:txBody>
      </p:sp>
      <p:sp>
        <p:nvSpPr>
          <p:cNvPr id="4" name="Text 0"/>
          <p:cNvSpPr/>
          <p:nvPr>
            <p:ph idx="100" type="body" hasCustomPrompt="1"/>
          </p:nvPr>
        </p:nvSpPr>
        <p:spPr>
          <a:xfrm>
            <a:off x="960120" y="457200"/>
            <a:ext cx="7635240" cy="292608"/>
          </a:xfrm>
          <a:prstGeom prst="rect">
            <a:avLst/>
          </a:prstGeom>
          <a:noFill/>
          <a:ln/>
        </p:spPr>
        <p:txBody>
          <a:bodyPr wrap="square" lIns="0" tIns="0" rIns="0" bIns="0" rtlCol="0" anchor="ctr"/>
          <a:lstStyle/>
          <a:p>
            <a:pPr indent="0" marL="0">
              <a:buNone/>
            </a:pPr>
            <a:r>
              <a:rPr lang="en-US" sz="1200" spc="300" kern="0" dirty="0">
                <a:solidFill>
                  <a:schemeClr val="bg2"/>
                </a:solidFill>
              </a:rPr>
              <a:t>WHEN THE FIRE IS OUT</a:t>
            </a:r>
            <a:endParaRPr lang="en-US" sz="1200" dirty="0"/>
          </a:p>
        </p:txBody>
      </p:sp>
      <p:sp>
        <p:nvSpPr>
          <p:cNvPr id="5" name="Text 0"/>
          <p:cNvSpPr/>
          <p:nvPr>
            <p:ph idx="101"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3000" b="1" dirty="0">
                <a:solidFill>
                  <a:schemeClr val="bg1"/>
                </a:solidFill>
              </a:rPr>
              <a:t>The timetable stops being a </a:t>
            </a:r>
            <a:pPr algn="l" indent="0" marL="0">
              <a:buNone/>
            </a:pPr>
            <a:r>
              <a:rPr lang="en-US" sz="3000" b="1" i="1" dirty="0">
                <a:solidFill>
                  <a:schemeClr val="accent1"/>
                </a:solidFill>
              </a:rPr>
              <a:t>project</a:t>
            </a:r>
            <a:pPr algn="l" indent="0" marL="0">
              <a:buNone/>
            </a:pPr>
            <a:r>
              <a:rPr lang="en-US" sz="3000" b="1" dirty="0">
                <a:solidFill>
                  <a:schemeClr val="bg1"/>
                </a:solidFill>
              </a:rPr>
              <a:t>. It becomes a button</a:t>
            </a:r>
            <a:endParaRPr lang="en-US" sz="3000" dirty="0"/>
          </a:p>
        </p:txBody>
      </p:sp>
      <p:sp>
        <p:nvSpPr>
          <p:cNvPr id="6" name="Shift card 1"/>
          <p:cNvSpPr/>
          <p:nvPr/>
        </p:nvSpPr>
        <p:spPr>
          <a:xfrm>
            <a:off x="548640" y="2011680"/>
            <a:ext cx="2499360" cy="2423160"/>
          </a:xfrm>
          <a:prstGeom prst="roundRect">
            <a:avLst>
              <a:gd name="adj" fmla="val 5660"/>
            </a:avLst>
          </a:prstGeom>
          <a:solidFill>
            <a:schemeClr val="tx2"/>
          </a:solidFill>
          <a:ln w="12700">
            <a:solidFill>
              <a:schemeClr val="accent6"/>
            </a:solidFill>
            <a:prstDash val="solid"/>
          </a:ln>
        </p:spPr>
      </p:sp>
      <p:sp>
        <p:nvSpPr>
          <p:cNvPr id="7" name="Shift from 1"/>
          <p:cNvSpPr txBox="1"/>
          <p:nvPr/>
        </p:nvSpPr>
        <p:spPr>
          <a:xfrm>
            <a:off x="777240" y="2240280"/>
            <a:ext cx="2042160" cy="274320"/>
          </a:xfrm>
          <a:prstGeom prst="rect">
            <a:avLst/>
          </a:prstGeom>
          <a:noFill/>
          <a:ln/>
        </p:spPr>
        <p:txBody>
          <a:bodyPr wrap="square" lIns="0" tIns="0" rIns="0" bIns="0" rtlCol="0" anchor="ctr"/>
          <a:lstStyle/>
          <a:p>
            <a:pPr indent="0" marL="0">
              <a:buNone/>
            </a:pPr>
            <a:r>
              <a:rPr lang="en-US" sz="1200" strike="sngStrike" dirty="0">
                <a:solidFill>
                  <a:schemeClr val="bg2"/>
                </a:solidFill>
              </a:rPr>
              <a:t>Weeks of manual work</a:t>
            </a:r>
            <a:endParaRPr lang="en-US" sz="1200" dirty="0"/>
          </a:p>
        </p:txBody>
      </p:sp>
      <p:sp>
        <p:nvSpPr>
          <p:cNvPr id="8" name="Shift to 1"/>
          <p:cNvSpPr txBox="1"/>
          <p:nvPr/>
        </p:nvSpPr>
        <p:spPr>
          <a:xfrm>
            <a:off x="777240" y="2560320"/>
            <a:ext cx="2042160" cy="7315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 full timetable in </a:t>
            </a:r>
            <a:pPr indent="0" marL="0">
              <a:buNone/>
            </a:pPr>
            <a:r>
              <a:rPr lang="en-US" sz="2000" i="1" dirty="0">
                <a:solidFill>
                  <a:schemeClr val="accent1"/>
                </a:solidFill>
                <a:latin typeface="Cambria" pitchFamily="34" charset="0"/>
                <a:ea typeface="Cambria" pitchFamily="34" charset="-122"/>
                <a:cs typeface="Cambria" pitchFamily="34" charset="-120"/>
              </a:rPr>
              <a:t>minutes</a:t>
            </a:r>
            <a:endParaRPr lang="en-US" sz="2000" dirty="0"/>
          </a:p>
        </p:txBody>
      </p:sp>
      <p:sp>
        <p:nvSpPr>
          <p:cNvPr id="9" name="Shift body 1"/>
          <p:cNvSpPr txBox="1"/>
          <p:nvPr/>
        </p:nvSpPr>
        <p:spPr>
          <a:xfrm>
            <a:off x="777240" y="3383280"/>
            <a:ext cx="2042160" cy="914400"/>
          </a:xfrm>
          <a:prstGeom prst="rect">
            <a:avLst/>
          </a:prstGeom>
          <a:noFill/>
          <a:ln/>
        </p:spPr>
        <p:txBody>
          <a:bodyPr wrap="square" lIns="0" tIns="0" rIns="0" bIns="0" rtlCol="0" anchor="t"/>
          <a:lstStyle/>
          <a:p>
            <a:pPr indent="0" marL="0">
              <a:buNone/>
            </a:pPr>
            <a:r>
              <a:rPr lang="en-US" sz="1400" dirty="0">
                <a:solidFill>
                  <a:schemeClr val="bg2"/>
                </a:solidFill>
              </a:rPr>
              <a:t>Every section, teacher, room and lab, generated together and clash-free</a:t>
            </a:r>
            <a:endParaRPr lang="en-US" sz="1400" dirty="0"/>
          </a:p>
        </p:txBody>
      </p:sp>
      <p:sp>
        <p:nvSpPr>
          <p:cNvPr id="10" name="Shift card 2"/>
          <p:cNvSpPr/>
          <p:nvPr/>
        </p:nvSpPr>
        <p:spPr>
          <a:xfrm>
            <a:off x="3322320" y="2011680"/>
            <a:ext cx="2499360" cy="2423160"/>
          </a:xfrm>
          <a:prstGeom prst="roundRect">
            <a:avLst>
              <a:gd name="adj" fmla="val 5660"/>
            </a:avLst>
          </a:prstGeom>
          <a:solidFill>
            <a:schemeClr val="tx2"/>
          </a:solidFill>
          <a:ln w="12700">
            <a:solidFill>
              <a:schemeClr val="accent6"/>
            </a:solidFill>
            <a:prstDash val="solid"/>
          </a:ln>
        </p:spPr>
      </p:sp>
      <p:sp>
        <p:nvSpPr>
          <p:cNvPr id="11" name="Shift from 2"/>
          <p:cNvSpPr txBox="1"/>
          <p:nvPr/>
        </p:nvSpPr>
        <p:spPr>
          <a:xfrm>
            <a:off x="3550920" y="2240280"/>
            <a:ext cx="2042160" cy="274320"/>
          </a:xfrm>
          <a:prstGeom prst="rect">
            <a:avLst/>
          </a:prstGeom>
          <a:noFill/>
          <a:ln/>
        </p:spPr>
        <p:txBody>
          <a:bodyPr wrap="square" lIns="0" tIns="0" rIns="0" bIns="0" rtlCol="0" anchor="ctr"/>
          <a:lstStyle/>
          <a:p>
            <a:pPr indent="0" marL="0">
              <a:buNone/>
            </a:pPr>
            <a:r>
              <a:rPr lang="en-US" sz="1200" strike="sngStrike" dirty="0">
                <a:solidFill>
                  <a:schemeClr val="bg2"/>
                </a:solidFill>
              </a:rPr>
              <a:t>“Don’t touch it, it’ll break”</a:t>
            </a:r>
            <a:endParaRPr lang="en-US" sz="1200" dirty="0"/>
          </a:p>
        </p:txBody>
      </p:sp>
      <p:sp>
        <p:nvSpPr>
          <p:cNvPr id="12" name="Shift to 2"/>
          <p:cNvSpPr txBox="1"/>
          <p:nvPr/>
        </p:nvSpPr>
        <p:spPr>
          <a:xfrm>
            <a:off x="3550920" y="2560320"/>
            <a:ext cx="2042160" cy="7315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Change it </a:t>
            </a:r>
            <a:pPr indent="0" marL="0">
              <a:buNone/>
            </a:pPr>
            <a:r>
              <a:rPr lang="en-US" sz="2000" i="1" dirty="0">
                <a:solidFill>
                  <a:schemeClr val="accent1"/>
                </a:solidFill>
                <a:latin typeface="Cambria" pitchFamily="34" charset="0"/>
                <a:ea typeface="Cambria" pitchFamily="34" charset="-122"/>
                <a:cs typeface="Cambria" pitchFamily="34" charset="-120"/>
              </a:rPr>
              <a:t>any day</a:t>
            </a:r>
            <a:endParaRPr lang="en-US" sz="2000" dirty="0"/>
          </a:p>
        </p:txBody>
      </p:sp>
      <p:sp>
        <p:nvSpPr>
          <p:cNvPr id="13" name="Shift body 2"/>
          <p:cNvSpPr txBox="1"/>
          <p:nvPr/>
        </p:nvSpPr>
        <p:spPr>
          <a:xfrm>
            <a:off x="3550920" y="3383280"/>
            <a:ext cx="2042160" cy="914400"/>
          </a:xfrm>
          <a:prstGeom prst="rect">
            <a:avLst/>
          </a:prstGeom>
          <a:noFill/>
          <a:ln/>
        </p:spPr>
        <p:txBody>
          <a:bodyPr wrap="square" lIns="0" tIns="0" rIns="0" bIns="0" rtlCol="0" anchor="t"/>
          <a:lstStyle/>
          <a:p>
            <a:pPr indent="0" marL="0">
              <a:buNone/>
            </a:pPr>
            <a:r>
              <a:rPr lang="en-US" sz="1400" dirty="0">
                <a:solidFill>
                  <a:schemeClr val="bg2"/>
                </a:solidFill>
              </a:rPr>
              <a:t>Someone leaves or a section is added: update, regenerate, keep what you locked</a:t>
            </a:r>
            <a:endParaRPr lang="en-US" sz="1400" dirty="0"/>
          </a:p>
        </p:txBody>
      </p:sp>
      <p:sp>
        <p:nvSpPr>
          <p:cNvPr id="14" name="Shift card 3"/>
          <p:cNvSpPr/>
          <p:nvPr/>
        </p:nvSpPr>
        <p:spPr>
          <a:xfrm>
            <a:off x="6096000" y="2011680"/>
            <a:ext cx="2499360" cy="2423160"/>
          </a:xfrm>
          <a:prstGeom prst="roundRect">
            <a:avLst>
              <a:gd name="adj" fmla="val 5660"/>
            </a:avLst>
          </a:prstGeom>
          <a:solidFill>
            <a:schemeClr val="tx2"/>
          </a:solidFill>
          <a:ln w="12700">
            <a:solidFill>
              <a:schemeClr val="accent6"/>
            </a:solidFill>
            <a:prstDash val="solid"/>
          </a:ln>
        </p:spPr>
      </p:sp>
      <p:sp>
        <p:nvSpPr>
          <p:cNvPr id="15" name="Shift from 3"/>
          <p:cNvSpPr txBox="1"/>
          <p:nvPr/>
        </p:nvSpPr>
        <p:spPr>
          <a:xfrm>
            <a:off x="6324600" y="2240280"/>
            <a:ext cx="2042160" cy="274320"/>
          </a:xfrm>
          <a:prstGeom prst="rect">
            <a:avLst/>
          </a:prstGeom>
          <a:noFill/>
          <a:ln/>
        </p:spPr>
        <p:txBody>
          <a:bodyPr wrap="square" lIns="0" tIns="0" rIns="0" bIns="0" rtlCol="0" anchor="ctr"/>
          <a:lstStyle/>
          <a:p>
            <a:pPr indent="0" marL="0">
              <a:buNone/>
            </a:pPr>
            <a:r>
              <a:rPr lang="en-US" sz="1200" strike="sngStrike" dirty="0">
                <a:solidFill>
                  <a:schemeClr val="bg2"/>
                </a:solidFill>
              </a:rPr>
              <a:t>One person who knows how</a:t>
            </a:r>
            <a:endParaRPr lang="en-US" sz="1200" dirty="0"/>
          </a:p>
        </p:txBody>
      </p:sp>
      <p:sp>
        <p:nvSpPr>
          <p:cNvPr id="16" name="Shift to 3"/>
          <p:cNvSpPr txBox="1"/>
          <p:nvPr/>
        </p:nvSpPr>
        <p:spPr>
          <a:xfrm>
            <a:off x="6324600" y="2560320"/>
            <a:ext cx="2042160" cy="73152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Anyone on staff can </a:t>
            </a:r>
            <a:pPr indent="0" marL="0">
              <a:buNone/>
            </a:pPr>
            <a:r>
              <a:rPr lang="en-US" sz="2000" i="1" dirty="0">
                <a:solidFill>
                  <a:schemeClr val="accent1"/>
                </a:solidFill>
                <a:latin typeface="Cambria" pitchFamily="34" charset="0"/>
                <a:ea typeface="Cambria" pitchFamily="34" charset="-122"/>
                <a:cs typeface="Cambria" pitchFamily="34" charset="-120"/>
              </a:rPr>
              <a:t>run it</a:t>
            </a:r>
            <a:endParaRPr lang="en-US" sz="2000" dirty="0"/>
          </a:p>
        </p:txBody>
      </p:sp>
      <p:sp>
        <p:nvSpPr>
          <p:cNvPr id="17" name="Shift body 3"/>
          <p:cNvSpPr txBox="1"/>
          <p:nvPr/>
        </p:nvSpPr>
        <p:spPr>
          <a:xfrm>
            <a:off x="6324600" y="3383280"/>
            <a:ext cx="2042160" cy="914400"/>
          </a:xfrm>
          <a:prstGeom prst="rect">
            <a:avLst/>
          </a:prstGeom>
          <a:noFill/>
          <a:ln/>
        </p:spPr>
        <p:txBody>
          <a:bodyPr wrap="square" lIns="0" tIns="0" rIns="0" bIns="0" rtlCol="0" anchor="t"/>
          <a:lstStyle/>
          <a:p>
            <a:pPr indent="0" marL="0">
              <a:buNone/>
            </a:pPr>
            <a:r>
              <a:rPr lang="en-US" sz="1400" dirty="0">
                <a:solidFill>
                  <a:schemeClr val="bg2"/>
                </a:solidFill>
              </a:rPr>
              <a:t>Rules written the way you’d say them, exported to Excel or PDF</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tep number ring"/>
          <p:cNvSpPr/>
          <p:nvPr/>
        </p:nvSpPr>
        <p:spPr>
          <a:xfrm>
            <a:off x="548640" y="457200"/>
            <a:ext cx="292608" cy="292608"/>
          </a:xfrm>
          <a:prstGeom prst="ellipse">
            <a:avLst/>
          </a:prstGeom>
          <a:solidFill>
            <a:schemeClr val="tx1"/>
          </a:solidFill>
          <a:ln w="28575">
            <a:solidFill>
              <a:schemeClr val="accent3"/>
            </a:solidFill>
            <a:prstDash val="solid"/>
          </a:ln>
        </p:spPr>
      </p:sp>
      <p:sp>
        <p:nvSpPr>
          <p:cNvPr id="3" name="Step number"/>
          <p:cNvSpPr txBox="1"/>
          <p:nvPr/>
        </p:nvSpPr>
        <p:spPr>
          <a:xfrm>
            <a:off x="548640" y="457200"/>
            <a:ext cx="292608" cy="292608"/>
          </a:xfrm>
          <a:prstGeom prst="rect">
            <a:avLst/>
          </a:prstGeom>
          <a:noFill/>
          <a:ln/>
        </p:spPr>
        <p:txBody>
          <a:bodyPr wrap="square" lIns="0" tIns="0" rIns="0" bIns="0" rtlCol="0" anchor="ctr"/>
          <a:lstStyle/>
          <a:p>
            <a:pPr algn="ctr" indent="0" marL="0">
              <a:buNone/>
            </a:pPr>
            <a:r>
              <a:rPr lang="en-US" sz="1200" b="1" dirty="0">
                <a:solidFill>
                  <a:schemeClr val="accent3"/>
                </a:solidFill>
              </a:rPr>
              <a:t>3</a:t>
            </a:r>
            <a:endParaRPr lang="en-US" sz="1200" dirty="0"/>
          </a:p>
        </p:txBody>
      </p:sp>
      <p:sp>
        <p:nvSpPr>
          <p:cNvPr id="4" name="Text 0"/>
          <p:cNvSpPr/>
          <p:nvPr>
            <p:ph idx="100" type="body" hasCustomPrompt="1"/>
          </p:nvPr>
        </p:nvSpPr>
        <p:spPr>
          <a:xfrm>
            <a:off x="960120" y="457200"/>
            <a:ext cx="7635240" cy="292608"/>
          </a:xfrm>
          <a:prstGeom prst="rect">
            <a:avLst/>
          </a:prstGeom>
          <a:noFill/>
          <a:ln/>
        </p:spPr>
        <p:txBody>
          <a:bodyPr wrap="square" lIns="0" tIns="0" rIns="0" bIns="0" rtlCol="0" anchor="ctr"/>
          <a:lstStyle/>
          <a:p>
            <a:pPr indent="0" marL="0">
              <a:buNone/>
            </a:pPr>
            <a:r>
              <a:rPr lang="en-US" sz="1200" spc="300" kern="0" dirty="0">
                <a:solidFill>
                  <a:schemeClr val="bg2"/>
                </a:solidFill>
              </a:rPr>
              <a:t>WHY IT HASN’T BEEN SOLVED YET</a:t>
            </a:r>
            <a:endParaRPr lang="en-US" sz="1200" dirty="0"/>
          </a:p>
        </p:txBody>
      </p:sp>
      <p:sp>
        <p:nvSpPr>
          <p:cNvPr id="5" name="Text 0"/>
          <p:cNvSpPr/>
          <p:nvPr>
            <p:ph idx="101"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3000" b="1" dirty="0">
                <a:solidFill>
                  <a:schemeClr val="bg1"/>
                </a:solidFill>
              </a:rPr>
              <a:t>Today’s options make you choose between </a:t>
            </a:r>
            <a:pPr algn="l" indent="0" marL="0">
              <a:buNone/>
            </a:pPr>
            <a:r>
              <a:rPr lang="en-US" sz="3000" b="1" i="1" dirty="0">
                <a:solidFill>
                  <a:schemeClr val="accent3"/>
                </a:solidFill>
              </a:rPr>
              <a:t>easy</a:t>
            </a:r>
            <a:pPr algn="l" indent="0" marL="0">
              <a:buNone/>
            </a:pPr>
            <a:r>
              <a:rPr lang="en-US" sz="3000" b="1" dirty="0">
                <a:solidFill>
                  <a:schemeClr val="bg1"/>
                </a:solidFill>
              </a:rPr>
              <a:t> and </a:t>
            </a:r>
            <a:pPr algn="l" indent="0" marL="0">
              <a:buNone/>
            </a:pPr>
            <a:r>
              <a:rPr lang="en-US" sz="3000" b="1" i="1" dirty="0">
                <a:solidFill>
                  <a:schemeClr val="accent3"/>
                </a:solidFill>
              </a:rPr>
              <a:t>correct</a:t>
            </a:r>
            <a:endParaRPr lang="en-US" sz="3000" dirty="0"/>
          </a:p>
        </p:txBody>
      </p:sp>
      <p:graphicFrame>
        <p:nvGraphicFramePr>
          <p:cNvPr id="5" name="Options comparison"/>
          <p:cNvGraphicFramePr>
            <a:graphicFrameLocks noGrp="1"/>
          </p:cNvGraphicFramePr>
          <p:nvPr>
            <p:extLst>
              <p:ext uri="{D42A27DB-BD31-4B8C-83A1-F6EECF244321}">
                <p14:modId xmlns:p14="http://schemas.microsoft.com/office/powerpoint/2010/main" val="1579011935"/>
              </p:ext>
            </p:extLst>
          </p:nvPr>
        </p:nvGraphicFramePr>
        <p:xfrm>
          <a:off x="548640" y="1965960"/>
          <a:ext cx="8046720" cy="914400"/>
        </p:xfrm>
        <a:graphic>
          <a:graphicData uri="http://schemas.openxmlformats.org/drawingml/2006/table">
            <a:tbl>
              <a:tblPr/>
              <a:tblGrid>
                <a:gridCol w="2194560"/>
                <a:gridCol w="1463040"/>
                <a:gridCol w="1463040"/>
                <a:gridCol w="1463040"/>
                <a:gridCol w="1463040"/>
              </a:tblGrid>
              <a:tr h="438912">
                <a:tc>
                  <a:txBody>
                    <a:bodyPr/>
                    <a:lstStyle/>
                    <a:p>
                      <a:pPr indent="0" marL="0">
                        <a:buNone/>
                      </a:pPr>
                      <a:endParaRPr lang="en-US" sz="11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100" b="1" dirty="0">
                          <a:solidFill>
                            <a:schemeClr val="bg2"/>
                          </a:solidFill>
                        </a:rPr>
                        <a:t>EXCEL / PAPER</a:t>
                      </a:r>
                      <a:endParaRPr lang="en-US" sz="11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100" b="1" dirty="0">
                          <a:solidFill>
                            <a:schemeClr val="bg2"/>
                          </a:solidFill>
                        </a:rPr>
                        <a:t>LEGACY SOFTWARE</a:t>
                      </a:r>
                      <a:endParaRPr lang="en-US" sz="11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100" b="1" dirty="0">
                          <a:solidFill>
                            <a:schemeClr val="bg2"/>
                          </a:solidFill>
                        </a:rPr>
                        <a:t>CONSULTANT</a:t>
                      </a:r>
                      <a:endParaRPr lang="en-US" sz="11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100" b="1" dirty="0">
                          <a:solidFill>
                            <a:schemeClr val="accent5"/>
                          </a:solidFill>
                        </a:rPr>
                        <a:t>TIMETABLZ</a:t>
                      </a:r>
                      <a:endParaRPr lang="en-US" sz="11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bg1"/>
                          </a:solidFill>
                        </a:rPr>
                        <a:t>Catches every clash</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No</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accent1"/>
                          </a:solidFill>
                        </a:rPr>
                        <a:t>Yes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Usually</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Always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bg1"/>
                          </a:solidFill>
                        </a:rPr>
                        <a:t>Rules in your own words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Yes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Rigid forms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1"/>
                          </a:solidFill>
                        </a:rPr>
                        <a:t>Yes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Yes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bg1"/>
                          </a:solidFill>
                        </a:rPr>
                        <a:t>Easy to change mid-year</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Painful</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Needs training</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Another invoice</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Regenerate</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2"/>
                    </a:solidFill>
                  </a:tcPr>
                </a:tc>
              </a:tr>
              <a:tr h="438912">
                <a:tc>
                  <a:txBody>
                    <a:bodyPr/>
                    <a:lstStyle/>
                    <a:p>
                      <a:pPr indent="0" marL="0">
                        <a:buNone/>
                      </a:pPr>
                      <a:r>
                        <a:rPr lang="en-US" sz="1400" b="1" dirty="0">
                          <a:solidFill>
                            <a:schemeClr val="bg1"/>
                          </a:solidFill>
                        </a:rPr>
                        <a:t>Works without an expert</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No</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No</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dirty="0">
                          <a:solidFill>
                            <a:schemeClr val="bg2"/>
                          </a:solidFill>
                        </a:rPr>
                        <a:t>No</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1"/>
                    </a:solidFill>
                  </a:tcPr>
                </a:tc>
                <a:tc>
                  <a:txBody>
                    <a:bodyPr/>
                    <a:lstStyle/>
                    <a:p>
                      <a:pPr indent="0" marL="0">
                        <a:buNone/>
                      </a:pPr>
                      <a:r>
                        <a:rPr lang="en-US" sz="1400" b="1" dirty="0">
                          <a:solidFill>
                            <a:schemeClr val="accent1"/>
                          </a:solidFill>
                        </a:rPr>
                        <a:t>Yes</a:t>
                      </a:r>
                      <a:endParaRPr lang="en-US" sz="1400" dirty="0"/>
                    </a:p>
                  </a:txBody>
                  <a:tcPr marL="137160" marR="137160" marT="0" marB="0" anchor="ctr">
                    <a:lnL w="9525" cap="flat" cmpd="sng" algn="ctr">
                      <a:solidFill>
                        <a:srgbClr val="333333"/>
                      </a:solidFill>
                      <a:prstDash val="solid"/>
                      <a:round/>
                      <a:headEnd type="none" w="med" len="med"/>
                      <a:tailEnd type="none" w="med" len="med"/>
                    </a:lnL>
                    <a:lnR w="9525" cap="flat" cmpd="sng" algn="ctr">
                      <a:solidFill>
                        <a:srgbClr val="333333"/>
                      </a:solidFill>
                      <a:prstDash val="solid"/>
                      <a:round/>
                      <a:headEnd type="none" w="med" len="med"/>
                      <a:tailEnd type="none" w="med" len="med"/>
                    </a:lnR>
                    <a:lnT w="9525" cap="flat" cmpd="sng" algn="ctr">
                      <a:solidFill>
                        <a:srgbClr val="333333"/>
                      </a:solidFill>
                      <a:prstDash val="solid"/>
                      <a:round/>
                      <a:headEnd type="none" w="med" len="med"/>
                      <a:tailEnd type="none" w="med" len="med"/>
                    </a:lnT>
                    <a:lnB w="9525" cap="flat" cmpd="sng" algn="ctr">
                      <a:solidFill>
                        <a:srgbClr val="333333"/>
                      </a:solidFill>
                      <a:prstDash val="solid"/>
                      <a:round/>
                      <a:headEnd type="none" w="med" len="med"/>
                      <a:tailEnd type="none" w="med" len="med"/>
                    </a:lnB>
                    <a:solidFill>
                      <a:schemeClr val="tx2"/>
                    </a:solidFill>
                  </a:tcPr>
                </a:tc>
              </a:tr>
            </a:tbl>
          </a:graphicData>
        </a:graphic>
      </p:graphicFrame>
      <p:sp>
        <p:nvSpPr>
          <p:cNvPr id="7" name="Gap takeaway"/>
          <p:cNvSpPr txBox="1"/>
          <p:nvPr/>
        </p:nvSpPr>
        <p:spPr>
          <a:xfrm>
            <a:off x="548640" y="4251960"/>
            <a:ext cx="8046720" cy="320040"/>
          </a:xfrm>
          <a:prstGeom prst="rect">
            <a:avLst/>
          </a:prstGeom>
          <a:noFill/>
          <a:ln/>
        </p:spPr>
        <p:txBody>
          <a:bodyPr wrap="square" lIns="0" tIns="0" rIns="0" bIns="0" rtlCol="0" anchor="ctr"/>
          <a:lstStyle/>
          <a:p>
            <a:pPr indent="0" marL="0">
              <a:buNone/>
            </a:pPr>
            <a:r>
              <a:rPr lang="en-US" sz="1200" i="1" dirty="0">
                <a:solidFill>
                  <a:schemeClr val="bg2"/>
                </a:solidFill>
              </a:rPr>
              <a:t>The hard part was never the grid. It was turning a school’s messy rules into something a computer can obey.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ep number ring"/>
          <p:cNvSpPr/>
          <p:nvPr/>
        </p:nvSpPr>
        <p:spPr>
          <a:xfrm>
            <a:off x="548640" y="457200"/>
            <a:ext cx="292608" cy="292608"/>
          </a:xfrm>
          <a:prstGeom prst="ellipse">
            <a:avLst/>
          </a:prstGeom>
          <a:solidFill>
            <a:schemeClr val="tx1"/>
          </a:solidFill>
          <a:ln w="28575">
            <a:solidFill>
              <a:schemeClr val="accent5"/>
            </a:solidFill>
            <a:prstDash val="solid"/>
          </a:ln>
        </p:spPr>
      </p:sp>
      <p:sp>
        <p:nvSpPr>
          <p:cNvPr id="3" name="Step number"/>
          <p:cNvSpPr txBox="1"/>
          <p:nvPr/>
        </p:nvSpPr>
        <p:spPr>
          <a:xfrm>
            <a:off x="548640" y="457200"/>
            <a:ext cx="292608" cy="292608"/>
          </a:xfrm>
          <a:prstGeom prst="rect">
            <a:avLst/>
          </a:prstGeom>
          <a:noFill/>
          <a:ln/>
        </p:spPr>
        <p:txBody>
          <a:bodyPr wrap="square" lIns="0" tIns="0" rIns="0" bIns="0" rtlCol="0" anchor="ctr"/>
          <a:lstStyle/>
          <a:p>
            <a:pPr algn="ctr" indent="0" marL="0">
              <a:buNone/>
            </a:pPr>
            <a:r>
              <a:rPr lang="en-US" sz="1200" b="1" dirty="0">
                <a:solidFill>
                  <a:schemeClr val="accent5"/>
                </a:solidFill>
              </a:rPr>
              <a:t>4</a:t>
            </a:r>
            <a:endParaRPr lang="en-US" sz="1200" dirty="0"/>
          </a:p>
        </p:txBody>
      </p:sp>
      <p:sp>
        <p:nvSpPr>
          <p:cNvPr id="4" name="Text 0"/>
          <p:cNvSpPr/>
          <p:nvPr>
            <p:ph idx="100" type="body" hasCustomPrompt="1"/>
          </p:nvPr>
        </p:nvSpPr>
        <p:spPr>
          <a:xfrm>
            <a:off x="960120" y="457200"/>
            <a:ext cx="7635240" cy="292608"/>
          </a:xfrm>
          <a:prstGeom prst="rect">
            <a:avLst/>
          </a:prstGeom>
          <a:noFill/>
          <a:ln/>
        </p:spPr>
        <p:txBody>
          <a:bodyPr wrap="square" lIns="0" tIns="0" rIns="0" bIns="0" rtlCol="0" anchor="ctr"/>
          <a:lstStyle/>
          <a:p>
            <a:pPr indent="0" marL="0">
              <a:buNone/>
            </a:pPr>
            <a:r>
              <a:rPr lang="en-US" sz="1200" spc="300" kern="0" dirty="0">
                <a:solidFill>
                  <a:schemeClr val="bg2"/>
                </a:solidFill>
              </a:rPr>
              <a:t>HOW WE BRIDGE IT</a:t>
            </a:r>
            <a:endParaRPr lang="en-US" sz="1200" dirty="0"/>
          </a:p>
        </p:txBody>
      </p:sp>
      <p:sp>
        <p:nvSpPr>
          <p:cNvPr id="5" name="Text 0"/>
          <p:cNvSpPr/>
          <p:nvPr>
            <p:ph idx="101"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3000" b="1" dirty="0">
                <a:solidFill>
                  <a:schemeClr val="bg1"/>
                </a:solidFill>
              </a:rPr>
              <a:t>You describe your school. </a:t>
            </a:r>
            <a:pPr algn="l" indent="0" marL="0">
              <a:buNone/>
            </a:pPr>
            <a:r>
              <a:rPr lang="en-US" sz="3000" b="1" i="1" dirty="0">
                <a:solidFill>
                  <a:schemeClr val="accent5"/>
                </a:solidFill>
              </a:rPr>
              <a:t>The maths</a:t>
            </a:r>
            <a:pPr algn="l" indent="0" marL="0">
              <a:buNone/>
            </a:pPr>
            <a:r>
              <a:rPr lang="en-US" sz="3000" b="1" dirty="0">
                <a:solidFill>
                  <a:schemeClr val="bg1"/>
                </a:solidFill>
              </a:rPr>
              <a:t> does the rest</a:t>
            </a:r>
            <a:endParaRPr lang="en-US" sz="3000" dirty="0"/>
          </a:p>
        </p:txBody>
      </p:sp>
      <p:sp>
        <p:nvSpPr>
          <p:cNvPr id="6" name="Step card 1"/>
          <p:cNvSpPr/>
          <p:nvPr/>
        </p:nvSpPr>
        <p:spPr>
          <a:xfrm>
            <a:off x="548640" y="1965960"/>
            <a:ext cx="1840230" cy="2194560"/>
          </a:xfrm>
          <a:prstGeom prst="roundRect">
            <a:avLst>
              <a:gd name="adj" fmla="val 7453"/>
            </a:avLst>
          </a:prstGeom>
          <a:solidFill>
            <a:schemeClr val="tx2"/>
          </a:solidFill>
          <a:ln w="12700">
            <a:solidFill>
              <a:schemeClr val="accent6"/>
            </a:solidFill>
            <a:prstDash val="solid"/>
          </a:ln>
        </p:spPr>
      </p:sp>
      <p:sp>
        <p:nvSpPr>
          <p:cNvPr id="7" name="Step ring 1"/>
          <p:cNvSpPr/>
          <p:nvPr/>
        </p:nvSpPr>
        <p:spPr>
          <a:xfrm>
            <a:off x="731520" y="2148840"/>
            <a:ext cx="329184" cy="329184"/>
          </a:xfrm>
          <a:prstGeom prst="ellipse">
            <a:avLst/>
          </a:prstGeom>
          <a:solidFill>
            <a:schemeClr val="tx2"/>
          </a:solidFill>
          <a:ln w="28575">
            <a:solidFill>
              <a:schemeClr val="accent4"/>
            </a:solidFill>
            <a:prstDash val="solid"/>
          </a:ln>
        </p:spPr>
      </p:sp>
      <p:sp>
        <p:nvSpPr>
          <p:cNvPr id="8" name="Step num 1"/>
          <p:cNvSpPr txBox="1"/>
          <p:nvPr/>
        </p:nvSpPr>
        <p:spPr>
          <a:xfrm>
            <a:off x="731520" y="2148840"/>
            <a:ext cx="329184" cy="329184"/>
          </a:xfrm>
          <a:prstGeom prst="rect">
            <a:avLst/>
          </a:prstGeom>
          <a:noFill/>
          <a:ln/>
        </p:spPr>
        <p:txBody>
          <a:bodyPr wrap="square" lIns="0" tIns="0" rIns="0" bIns="0" rtlCol="0" anchor="ctr"/>
          <a:lstStyle/>
          <a:p>
            <a:pPr algn="ctr" indent="0" marL="0">
              <a:buNone/>
            </a:pPr>
            <a:r>
              <a:rPr lang="en-US" sz="1300" b="1" dirty="0">
                <a:solidFill>
                  <a:schemeClr val="accent4"/>
                </a:solidFill>
              </a:rPr>
              <a:t>1</a:t>
            </a:r>
            <a:endParaRPr lang="en-US" sz="1300" dirty="0"/>
          </a:p>
        </p:txBody>
      </p:sp>
      <p:sp>
        <p:nvSpPr>
          <p:cNvPr id="9" name="Step title 1"/>
          <p:cNvSpPr txBox="1"/>
          <p:nvPr/>
        </p:nvSpPr>
        <p:spPr>
          <a:xfrm>
            <a:off x="731520" y="2587752"/>
            <a:ext cx="1474470" cy="292608"/>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Bring your data</a:t>
            </a:r>
            <a:endParaRPr lang="en-US" sz="1600" dirty="0"/>
          </a:p>
        </p:txBody>
      </p:sp>
      <p:sp>
        <p:nvSpPr>
          <p:cNvPr id="10" name="Step body 1"/>
          <p:cNvSpPr txBox="1"/>
          <p:nvPr/>
        </p:nvSpPr>
        <p:spPr>
          <a:xfrm>
            <a:off x="731520" y="2926080"/>
            <a:ext cx="1474470" cy="685800"/>
          </a:xfrm>
          <a:prstGeom prst="rect">
            <a:avLst/>
          </a:prstGeom>
          <a:noFill/>
          <a:ln/>
        </p:spPr>
        <p:txBody>
          <a:bodyPr wrap="square" lIns="0" tIns="0" rIns="0" bIns="0" rtlCol="0" anchor="t"/>
          <a:lstStyle/>
          <a:p>
            <a:pPr indent="0" marL="0">
              <a:buNone/>
            </a:pPr>
            <a:r>
              <a:rPr lang="en-US" sz="1400" dirty="0">
                <a:solidFill>
                  <a:schemeClr val="bg2"/>
                </a:solidFill>
              </a:rPr>
              <a:t>Teachers, subjects, sections. Type them or upload your Excel</a:t>
            </a:r>
            <a:endParaRPr lang="en-US" sz="1400" dirty="0"/>
          </a:p>
        </p:txBody>
      </p:sp>
      <p:sp>
        <p:nvSpPr>
          <p:cNvPr id="11" name="Arrow 1"/>
          <p:cNvSpPr txBox="1"/>
          <p:nvPr/>
        </p:nvSpPr>
        <p:spPr>
          <a:xfrm>
            <a:off x="2388870" y="2148840"/>
            <a:ext cx="228600" cy="329184"/>
          </a:xfrm>
          <a:prstGeom prst="rect">
            <a:avLst/>
          </a:prstGeom>
          <a:noFill/>
          <a:ln/>
        </p:spPr>
        <p:txBody>
          <a:bodyPr wrap="square" lIns="0" tIns="0" rIns="0" bIns="0" rtlCol="0" anchor="ctr"/>
          <a:lstStyle/>
          <a:p>
            <a:pPr algn="ctr" indent="0" marL="0">
              <a:buNone/>
            </a:pPr>
            <a:r>
              <a:rPr lang="en-US" sz="1400" dirty="0">
                <a:solidFill>
                  <a:schemeClr val="bg2"/>
                </a:solidFill>
              </a:rPr>
              <a:t>→</a:t>
            </a:r>
            <a:endParaRPr lang="en-US" sz="1400" dirty="0"/>
          </a:p>
        </p:txBody>
      </p:sp>
      <p:sp>
        <p:nvSpPr>
          <p:cNvPr id="12" name="Step card 2"/>
          <p:cNvSpPr/>
          <p:nvPr/>
        </p:nvSpPr>
        <p:spPr>
          <a:xfrm>
            <a:off x="2617470" y="1965960"/>
            <a:ext cx="1840230" cy="2194560"/>
          </a:xfrm>
          <a:prstGeom prst="roundRect">
            <a:avLst>
              <a:gd name="adj" fmla="val 7453"/>
            </a:avLst>
          </a:prstGeom>
          <a:solidFill>
            <a:schemeClr val="tx2"/>
          </a:solidFill>
          <a:ln w="12700">
            <a:solidFill>
              <a:schemeClr val="accent6"/>
            </a:solidFill>
            <a:prstDash val="solid"/>
          </a:ln>
        </p:spPr>
      </p:sp>
      <p:sp>
        <p:nvSpPr>
          <p:cNvPr id="13" name="Step ring 2"/>
          <p:cNvSpPr/>
          <p:nvPr/>
        </p:nvSpPr>
        <p:spPr>
          <a:xfrm>
            <a:off x="2800350" y="2148840"/>
            <a:ext cx="329184" cy="329184"/>
          </a:xfrm>
          <a:prstGeom prst="ellipse">
            <a:avLst/>
          </a:prstGeom>
          <a:solidFill>
            <a:schemeClr val="tx2"/>
          </a:solidFill>
          <a:ln w="28575">
            <a:solidFill>
              <a:schemeClr val="accent3"/>
            </a:solidFill>
            <a:prstDash val="solid"/>
          </a:ln>
        </p:spPr>
      </p:sp>
      <p:sp>
        <p:nvSpPr>
          <p:cNvPr id="14" name="Step num 2"/>
          <p:cNvSpPr txBox="1"/>
          <p:nvPr/>
        </p:nvSpPr>
        <p:spPr>
          <a:xfrm>
            <a:off x="2800350" y="2148840"/>
            <a:ext cx="329184" cy="329184"/>
          </a:xfrm>
          <a:prstGeom prst="rect">
            <a:avLst/>
          </a:prstGeom>
          <a:noFill/>
          <a:ln/>
        </p:spPr>
        <p:txBody>
          <a:bodyPr wrap="square" lIns="0" tIns="0" rIns="0" bIns="0" rtlCol="0" anchor="ctr"/>
          <a:lstStyle/>
          <a:p>
            <a:pPr algn="ctr" indent="0" marL="0">
              <a:buNone/>
            </a:pPr>
            <a:r>
              <a:rPr lang="en-US" sz="1300" b="1" dirty="0">
                <a:solidFill>
                  <a:schemeClr val="accent3"/>
                </a:solidFill>
              </a:rPr>
              <a:t>2</a:t>
            </a:r>
            <a:endParaRPr lang="en-US" sz="1300" dirty="0"/>
          </a:p>
        </p:txBody>
      </p:sp>
      <p:sp>
        <p:nvSpPr>
          <p:cNvPr id="15" name="Step title 2"/>
          <p:cNvSpPr txBox="1"/>
          <p:nvPr/>
        </p:nvSpPr>
        <p:spPr>
          <a:xfrm>
            <a:off x="2800350" y="2587752"/>
            <a:ext cx="1474470" cy="292608"/>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Say your rules</a:t>
            </a:r>
            <a:endParaRPr lang="en-US" sz="1600" dirty="0"/>
          </a:p>
        </p:txBody>
      </p:sp>
      <p:sp>
        <p:nvSpPr>
          <p:cNvPr id="16" name="Step body 2"/>
          <p:cNvSpPr txBox="1"/>
          <p:nvPr/>
        </p:nvSpPr>
        <p:spPr>
          <a:xfrm>
            <a:off x="2800350" y="2926080"/>
            <a:ext cx="1474470" cy="685800"/>
          </a:xfrm>
          <a:prstGeom prst="rect">
            <a:avLst/>
          </a:prstGeom>
          <a:noFill/>
          <a:ln/>
        </p:spPr>
        <p:txBody>
          <a:bodyPr wrap="square" lIns="0" tIns="0" rIns="0" bIns="0" rtlCol="0" anchor="t"/>
          <a:lstStyle/>
          <a:p>
            <a:pPr indent="0" marL="0">
              <a:buNone/>
            </a:pPr>
            <a:r>
              <a:rPr lang="en-US" sz="1400" dirty="0">
                <a:solidFill>
                  <a:schemeClr val="bg2"/>
                </a:solidFill>
              </a:rPr>
              <a:t>AI turns each sentence into a rule you confirm</a:t>
            </a:r>
            <a:endParaRPr lang="en-US" sz="1400" dirty="0"/>
          </a:p>
        </p:txBody>
      </p:sp>
      <p:sp>
        <p:nvSpPr>
          <p:cNvPr id="17" name="Rule example"/>
          <p:cNvSpPr txBox="1"/>
          <p:nvPr/>
        </p:nvSpPr>
        <p:spPr>
          <a:xfrm>
            <a:off x="2800350" y="3566160"/>
            <a:ext cx="1474470" cy="502920"/>
          </a:xfrm>
          <a:prstGeom prst="rect">
            <a:avLst/>
          </a:prstGeom>
          <a:noFill/>
          <a:ln/>
        </p:spPr>
        <p:txBody>
          <a:bodyPr wrap="square" lIns="0" tIns="0" rIns="0" bIns="0" rtlCol="0" anchor="t"/>
          <a:lstStyle/>
          <a:p>
            <a:pPr indent="0" marL="0">
              <a:buNone/>
            </a:pPr>
            <a:r>
              <a:rPr lang="en-US" sz="1100" i="1" dirty="0">
                <a:solidFill>
                  <a:schemeClr val="accent3"/>
                </a:solidFill>
                <a:latin typeface="Cambria" pitchFamily="34" charset="0"/>
                <a:ea typeface="Cambria" pitchFamily="34" charset="-122"/>
                <a:cs typeface="Cambria" pitchFamily="34" charset="-120"/>
              </a:rPr>
              <a:t>“Mrs Rao doesn’t teach after lunch on Fridays”</a:t>
            </a:r>
            <a:endParaRPr lang="en-US" sz="1100" dirty="0"/>
          </a:p>
        </p:txBody>
      </p:sp>
      <p:sp>
        <p:nvSpPr>
          <p:cNvPr id="18" name="Arrow 2"/>
          <p:cNvSpPr txBox="1"/>
          <p:nvPr/>
        </p:nvSpPr>
        <p:spPr>
          <a:xfrm>
            <a:off x="4457700" y="2148840"/>
            <a:ext cx="228600" cy="329184"/>
          </a:xfrm>
          <a:prstGeom prst="rect">
            <a:avLst/>
          </a:prstGeom>
          <a:noFill/>
          <a:ln/>
        </p:spPr>
        <p:txBody>
          <a:bodyPr wrap="square" lIns="0" tIns="0" rIns="0" bIns="0" rtlCol="0" anchor="ctr"/>
          <a:lstStyle/>
          <a:p>
            <a:pPr algn="ctr" indent="0" marL="0">
              <a:buNone/>
            </a:pPr>
            <a:r>
              <a:rPr lang="en-US" sz="1400" dirty="0">
                <a:solidFill>
                  <a:schemeClr val="bg2"/>
                </a:solidFill>
              </a:rPr>
              <a:t>→</a:t>
            </a:r>
            <a:endParaRPr lang="en-US" sz="1400" dirty="0"/>
          </a:p>
        </p:txBody>
      </p:sp>
      <p:sp>
        <p:nvSpPr>
          <p:cNvPr id="19" name="Step card 3"/>
          <p:cNvSpPr/>
          <p:nvPr/>
        </p:nvSpPr>
        <p:spPr>
          <a:xfrm>
            <a:off x="4686300" y="1965960"/>
            <a:ext cx="1840230" cy="2194560"/>
          </a:xfrm>
          <a:prstGeom prst="roundRect">
            <a:avLst>
              <a:gd name="adj" fmla="val 7453"/>
            </a:avLst>
          </a:prstGeom>
          <a:solidFill>
            <a:schemeClr val="tx2"/>
          </a:solidFill>
          <a:ln w="12700">
            <a:solidFill>
              <a:schemeClr val="accent6"/>
            </a:solidFill>
            <a:prstDash val="solid"/>
          </a:ln>
        </p:spPr>
      </p:sp>
      <p:sp>
        <p:nvSpPr>
          <p:cNvPr id="20" name="Step ring 3"/>
          <p:cNvSpPr/>
          <p:nvPr/>
        </p:nvSpPr>
        <p:spPr>
          <a:xfrm>
            <a:off x="4869180" y="2148840"/>
            <a:ext cx="329184" cy="329184"/>
          </a:xfrm>
          <a:prstGeom prst="ellipse">
            <a:avLst/>
          </a:prstGeom>
          <a:solidFill>
            <a:schemeClr val="tx2"/>
          </a:solidFill>
          <a:ln w="28575">
            <a:solidFill>
              <a:schemeClr val="accent1"/>
            </a:solidFill>
            <a:prstDash val="solid"/>
          </a:ln>
        </p:spPr>
      </p:sp>
      <p:sp>
        <p:nvSpPr>
          <p:cNvPr id="21" name="Step num 3"/>
          <p:cNvSpPr txBox="1"/>
          <p:nvPr/>
        </p:nvSpPr>
        <p:spPr>
          <a:xfrm>
            <a:off x="4869180" y="2148840"/>
            <a:ext cx="329184" cy="329184"/>
          </a:xfrm>
          <a:prstGeom prst="rect">
            <a:avLst/>
          </a:prstGeom>
          <a:noFill/>
          <a:ln/>
        </p:spPr>
        <p:txBody>
          <a:bodyPr wrap="square" lIns="0" tIns="0" rIns="0" bIns="0" rtlCol="0" anchor="ctr"/>
          <a:lstStyle/>
          <a:p>
            <a:pPr algn="ctr" indent="0" marL="0">
              <a:buNone/>
            </a:pPr>
            <a:r>
              <a:rPr lang="en-US" sz="1300" b="1" dirty="0">
                <a:solidFill>
                  <a:schemeClr val="accent1"/>
                </a:solidFill>
              </a:rPr>
              <a:t>3</a:t>
            </a:r>
            <a:endParaRPr lang="en-US" sz="1300" dirty="0"/>
          </a:p>
        </p:txBody>
      </p:sp>
      <p:sp>
        <p:nvSpPr>
          <p:cNvPr id="22" name="Step title 3"/>
          <p:cNvSpPr txBox="1"/>
          <p:nvPr/>
        </p:nvSpPr>
        <p:spPr>
          <a:xfrm>
            <a:off x="4869180" y="2587752"/>
            <a:ext cx="1474470" cy="292608"/>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We solve it</a:t>
            </a:r>
            <a:endParaRPr lang="en-US" sz="1600" dirty="0"/>
          </a:p>
        </p:txBody>
      </p:sp>
      <p:sp>
        <p:nvSpPr>
          <p:cNvPr id="23" name="Step body 3"/>
          <p:cNvSpPr txBox="1"/>
          <p:nvPr/>
        </p:nvSpPr>
        <p:spPr>
          <a:xfrm>
            <a:off x="4869180" y="2926080"/>
            <a:ext cx="1474470" cy="685800"/>
          </a:xfrm>
          <a:prstGeom prst="rect">
            <a:avLst/>
          </a:prstGeom>
          <a:noFill/>
          <a:ln/>
        </p:spPr>
        <p:txBody>
          <a:bodyPr wrap="square" lIns="0" tIns="0" rIns="0" bIns="0" rtlCol="0" anchor="t"/>
          <a:lstStyle/>
          <a:p>
            <a:pPr indent="0" marL="0">
              <a:buNone/>
            </a:pPr>
            <a:r>
              <a:rPr lang="en-US" sz="1400" dirty="0">
                <a:solidFill>
                  <a:schemeClr val="bg2"/>
                </a:solidFill>
              </a:rPr>
              <a:t>An optimisation engine meets every rule at once</a:t>
            </a:r>
            <a:endParaRPr lang="en-US" sz="1400" dirty="0"/>
          </a:p>
        </p:txBody>
      </p:sp>
      <p:sp>
        <p:nvSpPr>
          <p:cNvPr id="24" name="Arrow 3"/>
          <p:cNvSpPr txBox="1"/>
          <p:nvPr/>
        </p:nvSpPr>
        <p:spPr>
          <a:xfrm>
            <a:off x="6526530" y="2148840"/>
            <a:ext cx="228600" cy="329184"/>
          </a:xfrm>
          <a:prstGeom prst="rect">
            <a:avLst/>
          </a:prstGeom>
          <a:noFill/>
          <a:ln/>
        </p:spPr>
        <p:txBody>
          <a:bodyPr wrap="square" lIns="0" tIns="0" rIns="0" bIns="0" rtlCol="0" anchor="ctr"/>
          <a:lstStyle/>
          <a:p>
            <a:pPr algn="ctr" indent="0" marL="0">
              <a:buNone/>
            </a:pPr>
            <a:r>
              <a:rPr lang="en-US" sz="1400" dirty="0">
                <a:solidFill>
                  <a:schemeClr val="bg2"/>
                </a:solidFill>
              </a:rPr>
              <a:t>→</a:t>
            </a:r>
            <a:endParaRPr lang="en-US" sz="1400" dirty="0"/>
          </a:p>
        </p:txBody>
      </p:sp>
      <p:sp>
        <p:nvSpPr>
          <p:cNvPr id="25" name="Step card 4"/>
          <p:cNvSpPr/>
          <p:nvPr/>
        </p:nvSpPr>
        <p:spPr>
          <a:xfrm>
            <a:off x="6755130" y="1965960"/>
            <a:ext cx="1840230" cy="2194560"/>
          </a:xfrm>
          <a:prstGeom prst="roundRect">
            <a:avLst>
              <a:gd name="adj" fmla="val 7453"/>
            </a:avLst>
          </a:prstGeom>
          <a:solidFill>
            <a:schemeClr val="tx2"/>
          </a:solidFill>
          <a:ln w="12700">
            <a:solidFill>
              <a:schemeClr val="accent6"/>
            </a:solidFill>
            <a:prstDash val="solid"/>
          </a:ln>
        </p:spPr>
      </p:sp>
      <p:sp>
        <p:nvSpPr>
          <p:cNvPr id="26" name="Step ring 4"/>
          <p:cNvSpPr/>
          <p:nvPr/>
        </p:nvSpPr>
        <p:spPr>
          <a:xfrm>
            <a:off x="6938010" y="2148840"/>
            <a:ext cx="329184" cy="329184"/>
          </a:xfrm>
          <a:prstGeom prst="ellipse">
            <a:avLst/>
          </a:prstGeom>
          <a:solidFill>
            <a:schemeClr val="tx2"/>
          </a:solidFill>
          <a:ln w="28575">
            <a:solidFill>
              <a:schemeClr val="accent5"/>
            </a:solidFill>
            <a:prstDash val="solid"/>
          </a:ln>
        </p:spPr>
      </p:sp>
      <p:sp>
        <p:nvSpPr>
          <p:cNvPr id="27" name="Step num 4"/>
          <p:cNvSpPr txBox="1"/>
          <p:nvPr/>
        </p:nvSpPr>
        <p:spPr>
          <a:xfrm>
            <a:off x="6938010" y="2148840"/>
            <a:ext cx="329184" cy="329184"/>
          </a:xfrm>
          <a:prstGeom prst="rect">
            <a:avLst/>
          </a:prstGeom>
          <a:noFill/>
          <a:ln/>
        </p:spPr>
        <p:txBody>
          <a:bodyPr wrap="square" lIns="0" tIns="0" rIns="0" bIns="0" rtlCol="0" anchor="ctr"/>
          <a:lstStyle/>
          <a:p>
            <a:pPr algn="ctr" indent="0" marL="0">
              <a:buNone/>
            </a:pPr>
            <a:r>
              <a:rPr lang="en-US" sz="1300" b="1" dirty="0">
                <a:solidFill>
                  <a:schemeClr val="accent5"/>
                </a:solidFill>
              </a:rPr>
              <a:t>4</a:t>
            </a:r>
            <a:endParaRPr lang="en-US" sz="1300" dirty="0"/>
          </a:p>
        </p:txBody>
      </p:sp>
      <p:sp>
        <p:nvSpPr>
          <p:cNvPr id="28" name="Step title 4"/>
          <p:cNvSpPr txBox="1"/>
          <p:nvPr/>
        </p:nvSpPr>
        <p:spPr>
          <a:xfrm>
            <a:off x="6938010" y="2587752"/>
            <a:ext cx="1474470" cy="292608"/>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Adjust &amp; share</a:t>
            </a:r>
            <a:endParaRPr lang="en-US" sz="1600" dirty="0"/>
          </a:p>
        </p:txBody>
      </p:sp>
      <p:sp>
        <p:nvSpPr>
          <p:cNvPr id="29" name="Step body 4"/>
          <p:cNvSpPr txBox="1"/>
          <p:nvPr/>
        </p:nvSpPr>
        <p:spPr>
          <a:xfrm>
            <a:off x="6938010" y="2926080"/>
            <a:ext cx="1474470" cy="685800"/>
          </a:xfrm>
          <a:prstGeom prst="rect">
            <a:avLst/>
          </a:prstGeom>
          <a:noFill/>
          <a:ln/>
        </p:spPr>
        <p:txBody>
          <a:bodyPr wrap="square" lIns="0" tIns="0" rIns="0" bIns="0" rtlCol="0" anchor="t"/>
          <a:lstStyle/>
          <a:p>
            <a:pPr indent="0" marL="0">
              <a:buNone/>
            </a:pPr>
            <a:r>
              <a:rPr lang="en-US" sz="1400" dirty="0">
                <a:solidFill>
                  <a:schemeClr val="bg2"/>
                </a:solidFill>
              </a:rPr>
              <a:t>Drag, lock, regenerate, find substitutes, export</a:t>
            </a:r>
            <a:endParaRPr lang="en-US" sz="1400" dirty="0"/>
          </a:p>
        </p:txBody>
      </p:sp>
      <p:sp>
        <p:nvSpPr>
          <p:cNvPr id="30" name="Conflict callout"/>
          <p:cNvSpPr txBox="1"/>
          <p:nvPr/>
        </p:nvSpPr>
        <p:spPr>
          <a:xfrm>
            <a:off x="548640" y="4279392"/>
            <a:ext cx="8046720" cy="292608"/>
          </a:xfrm>
          <a:prstGeom prst="rect">
            <a:avLst/>
          </a:prstGeom>
          <a:noFill/>
          <a:ln/>
        </p:spPr>
        <p:txBody>
          <a:bodyPr wrap="square" lIns="0" tIns="0" rIns="0" bIns="0" rtlCol="0" anchor="ctr"/>
          <a:lstStyle/>
          <a:p>
            <a:pPr indent="0" marL="0">
              <a:buNone/>
            </a:pPr>
            <a:r>
              <a:rPr lang="en-US" sz="1400" b="1" dirty="0">
                <a:solidFill>
                  <a:schemeClr val="bg1"/>
                </a:solidFill>
              </a:rPr>
              <a:t>Rules that can’t all fit? </a:t>
            </a:r>
            <a:pPr indent="0" marL="0">
              <a:buNone/>
            </a:pPr>
            <a:r>
              <a:rPr lang="en-US" sz="1400" dirty="0">
                <a:solidFill>
                  <a:schemeClr val="bg2"/>
                </a:solidFill>
              </a:rPr>
              <a:t>Timetablz says which ones conflict, in plain language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ep number ring"/>
          <p:cNvSpPr/>
          <p:nvPr/>
        </p:nvSpPr>
        <p:spPr>
          <a:xfrm>
            <a:off x="548640" y="457200"/>
            <a:ext cx="292608" cy="292608"/>
          </a:xfrm>
          <a:prstGeom prst="ellipse">
            <a:avLst/>
          </a:prstGeom>
          <a:solidFill>
            <a:schemeClr val="tx1"/>
          </a:solidFill>
          <a:ln w="28575">
            <a:solidFill>
              <a:schemeClr val="accent1"/>
            </a:solidFill>
            <a:prstDash val="solid"/>
          </a:ln>
        </p:spPr>
      </p:sp>
      <p:sp>
        <p:nvSpPr>
          <p:cNvPr id="3" name="Step number"/>
          <p:cNvSpPr txBox="1"/>
          <p:nvPr/>
        </p:nvSpPr>
        <p:spPr>
          <a:xfrm>
            <a:off x="548640" y="457200"/>
            <a:ext cx="292608" cy="292608"/>
          </a:xfrm>
          <a:prstGeom prst="rect">
            <a:avLst/>
          </a:prstGeom>
          <a:no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4" name="Text 0"/>
          <p:cNvSpPr/>
          <p:nvPr>
            <p:ph idx="100" type="body" hasCustomPrompt="1"/>
          </p:nvPr>
        </p:nvSpPr>
        <p:spPr>
          <a:xfrm>
            <a:off x="960120" y="457200"/>
            <a:ext cx="7635240" cy="292608"/>
          </a:xfrm>
          <a:prstGeom prst="rect">
            <a:avLst/>
          </a:prstGeom>
          <a:noFill/>
          <a:ln/>
        </p:spPr>
        <p:txBody>
          <a:bodyPr wrap="square" lIns="0" tIns="0" rIns="0" bIns="0" rtlCol="0" anchor="ctr"/>
          <a:lstStyle/>
          <a:p>
            <a:pPr indent="0" marL="0">
              <a:buNone/>
            </a:pPr>
            <a:r>
              <a:rPr lang="en-US" sz="1200" spc="300" kern="0" dirty="0">
                <a:solidFill>
                  <a:schemeClr val="bg2"/>
                </a:solidFill>
              </a:rPr>
              <a:t>ONE CLEAR PATH FORWARD</a:t>
            </a:r>
            <a:endParaRPr lang="en-US" sz="1200" dirty="0"/>
          </a:p>
        </p:txBody>
      </p:sp>
      <p:sp>
        <p:nvSpPr>
          <p:cNvPr id="5" name="Text 0"/>
          <p:cNvSpPr/>
          <p:nvPr>
            <p:ph idx="101"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3000" b="1" dirty="0">
                <a:solidFill>
                  <a:schemeClr val="bg1"/>
                </a:solidFill>
              </a:rPr>
              <a:t>See </a:t>
            </a:r>
            <a:pPr algn="l" indent="0" marL="0">
              <a:buNone/>
            </a:pPr>
            <a:r>
              <a:rPr lang="en-US" sz="3000" b="1" i="1" dirty="0">
                <a:solidFill>
                  <a:schemeClr val="accent1"/>
                </a:solidFill>
              </a:rPr>
              <a:t>your own</a:t>
            </a:r>
            <a:pPr algn="l" indent="0" marL="0">
              <a:buNone/>
            </a:pPr>
            <a:r>
              <a:rPr lang="en-US" sz="3000" b="1" dirty="0">
                <a:solidFill>
                  <a:schemeClr val="bg1"/>
                </a:solidFill>
              </a:rPr>
              <a:t> timetable before you decide</a:t>
            </a:r>
            <a:endParaRPr lang="en-US" sz="3000" dirty="0"/>
          </a:p>
        </p:txBody>
      </p:sp>
      <p:sp>
        <p:nvSpPr>
          <p:cNvPr id="6" name="Path step 1"/>
          <p:cNvSpPr/>
          <p:nvPr/>
        </p:nvSpPr>
        <p:spPr>
          <a:xfrm>
            <a:off x="548640" y="1965960"/>
            <a:ext cx="4526280" cy="640080"/>
          </a:xfrm>
          <a:prstGeom prst="roundRect">
            <a:avLst>
              <a:gd name="adj" fmla="val 17143"/>
            </a:avLst>
          </a:prstGeom>
          <a:solidFill>
            <a:schemeClr val="tx2"/>
          </a:solidFill>
          <a:ln w="12700">
            <a:solidFill>
              <a:schemeClr val="accent6"/>
            </a:solidFill>
            <a:prstDash val="solid"/>
          </a:ln>
        </p:spPr>
      </p:sp>
      <p:sp>
        <p:nvSpPr>
          <p:cNvPr id="7" name="Path when 1"/>
          <p:cNvSpPr txBox="1"/>
          <p:nvPr/>
        </p:nvSpPr>
        <p:spPr>
          <a:xfrm>
            <a:off x="777240" y="1965960"/>
            <a:ext cx="868680" cy="640080"/>
          </a:xfrm>
          <a:prstGeom prst="rect">
            <a:avLst/>
          </a:prstGeom>
          <a:noFill/>
          <a:ln/>
        </p:spPr>
        <p:txBody>
          <a:bodyPr wrap="square" lIns="0" tIns="0" rIns="0" bIns="0" rtlCol="0" anchor="ctr"/>
          <a:lstStyle/>
          <a:p>
            <a:pPr indent="0" marL="0">
              <a:buNone/>
            </a:pPr>
            <a:r>
              <a:rPr lang="en-US" sz="1700" i="1" dirty="0">
                <a:solidFill>
                  <a:schemeClr val="accent1"/>
                </a:solidFill>
                <a:latin typeface="Cambria" pitchFamily="34" charset="0"/>
                <a:ea typeface="Cambria" pitchFamily="34" charset="-122"/>
                <a:cs typeface="Cambria" pitchFamily="34" charset="-120"/>
              </a:rPr>
              <a:t>Today</a:t>
            </a:r>
            <a:endParaRPr lang="en-US" sz="1700" dirty="0"/>
          </a:p>
        </p:txBody>
      </p:sp>
      <p:sp>
        <p:nvSpPr>
          <p:cNvPr id="8" name="Path what 1"/>
          <p:cNvSpPr txBox="1"/>
          <p:nvPr/>
        </p:nvSpPr>
        <p:spPr>
          <a:xfrm>
            <a:off x="1691640" y="1965960"/>
            <a:ext cx="3246120" cy="640080"/>
          </a:xfrm>
          <a:prstGeom prst="rect">
            <a:avLst/>
          </a:prstGeom>
          <a:noFill/>
          <a:ln/>
        </p:spPr>
        <p:txBody>
          <a:bodyPr wrap="square" lIns="0" tIns="0" rIns="0" bIns="0" rtlCol="0" anchor="ctr"/>
          <a:lstStyle/>
          <a:p>
            <a:pPr indent="0" marL="0">
              <a:buNone/>
            </a:pPr>
            <a:r>
              <a:rPr lang="en-US" sz="1400" dirty="0">
                <a:solidFill>
                  <a:schemeClr val="bg1"/>
                </a:solidFill>
              </a:rPr>
              <a:t>A 20-minute walkthrough on your real setup</a:t>
            </a:r>
            <a:endParaRPr lang="en-US" sz="1400" dirty="0"/>
          </a:p>
        </p:txBody>
      </p:sp>
      <p:sp>
        <p:nvSpPr>
          <p:cNvPr id="9" name="Path step 2"/>
          <p:cNvSpPr/>
          <p:nvPr/>
        </p:nvSpPr>
        <p:spPr>
          <a:xfrm>
            <a:off x="548640" y="2743200"/>
            <a:ext cx="4526280" cy="640080"/>
          </a:xfrm>
          <a:prstGeom prst="roundRect">
            <a:avLst>
              <a:gd name="adj" fmla="val 17143"/>
            </a:avLst>
          </a:prstGeom>
          <a:solidFill>
            <a:schemeClr val="tx2"/>
          </a:solidFill>
          <a:ln w="12700">
            <a:solidFill>
              <a:schemeClr val="accent6"/>
            </a:solidFill>
            <a:prstDash val="solid"/>
          </a:ln>
        </p:spPr>
      </p:sp>
      <p:sp>
        <p:nvSpPr>
          <p:cNvPr id="10" name="Path when 2"/>
          <p:cNvSpPr txBox="1"/>
          <p:nvPr/>
        </p:nvSpPr>
        <p:spPr>
          <a:xfrm>
            <a:off x="777240" y="2743200"/>
            <a:ext cx="868680" cy="640080"/>
          </a:xfrm>
          <a:prstGeom prst="rect">
            <a:avLst/>
          </a:prstGeom>
          <a:noFill/>
          <a:ln/>
        </p:spPr>
        <p:txBody>
          <a:bodyPr wrap="square" lIns="0" tIns="0" rIns="0" bIns="0" rtlCol="0" anchor="ctr"/>
          <a:lstStyle/>
          <a:p>
            <a:pPr indent="0" marL="0">
              <a:buNone/>
            </a:pPr>
            <a:r>
              <a:rPr lang="en-US" sz="1700" i="1" dirty="0">
                <a:solidFill>
                  <a:schemeClr val="accent1"/>
                </a:solidFill>
                <a:latin typeface="Cambria" pitchFamily="34" charset="0"/>
                <a:ea typeface="Cambria" pitchFamily="34" charset="-122"/>
                <a:cs typeface="Cambria" pitchFamily="34" charset="-120"/>
              </a:rPr>
              <a:t>Week 1</a:t>
            </a:r>
            <a:endParaRPr lang="en-US" sz="1700" dirty="0"/>
          </a:p>
        </p:txBody>
      </p:sp>
      <p:sp>
        <p:nvSpPr>
          <p:cNvPr id="11" name="Path what 2"/>
          <p:cNvSpPr txBox="1"/>
          <p:nvPr/>
        </p:nvSpPr>
        <p:spPr>
          <a:xfrm>
            <a:off x="1691640" y="2743200"/>
            <a:ext cx="3246120" cy="640080"/>
          </a:xfrm>
          <a:prstGeom prst="rect">
            <a:avLst/>
          </a:prstGeom>
          <a:noFill/>
          <a:ln/>
        </p:spPr>
        <p:txBody>
          <a:bodyPr wrap="square" lIns="0" tIns="0" rIns="0" bIns="0" rtlCol="0" anchor="ctr"/>
          <a:lstStyle/>
          <a:p>
            <a:pPr indent="0" marL="0">
              <a:buNone/>
            </a:pPr>
            <a:r>
              <a:rPr lang="en-US" sz="1400" dirty="0">
                <a:solidFill>
                  <a:schemeClr val="bg1"/>
                </a:solidFill>
              </a:rPr>
              <a:t>Your teachers, subjects and rules go in, with our help</a:t>
            </a:r>
            <a:endParaRPr lang="en-US" sz="1400" dirty="0"/>
          </a:p>
        </p:txBody>
      </p:sp>
      <p:sp>
        <p:nvSpPr>
          <p:cNvPr id="12" name="Path step 3"/>
          <p:cNvSpPr/>
          <p:nvPr/>
        </p:nvSpPr>
        <p:spPr>
          <a:xfrm>
            <a:off x="548640" y="3520440"/>
            <a:ext cx="4526280" cy="640080"/>
          </a:xfrm>
          <a:prstGeom prst="roundRect">
            <a:avLst>
              <a:gd name="adj" fmla="val 17143"/>
            </a:avLst>
          </a:prstGeom>
          <a:solidFill>
            <a:schemeClr val="tx2"/>
          </a:solidFill>
          <a:ln w="12700">
            <a:solidFill>
              <a:schemeClr val="accent6"/>
            </a:solidFill>
            <a:prstDash val="solid"/>
          </a:ln>
        </p:spPr>
      </p:sp>
      <p:sp>
        <p:nvSpPr>
          <p:cNvPr id="13" name="Path when 3"/>
          <p:cNvSpPr txBox="1"/>
          <p:nvPr/>
        </p:nvSpPr>
        <p:spPr>
          <a:xfrm>
            <a:off x="777240" y="3520440"/>
            <a:ext cx="868680" cy="640080"/>
          </a:xfrm>
          <a:prstGeom prst="rect">
            <a:avLst/>
          </a:prstGeom>
          <a:noFill/>
          <a:ln/>
        </p:spPr>
        <p:txBody>
          <a:bodyPr wrap="square" lIns="0" tIns="0" rIns="0" bIns="0" rtlCol="0" anchor="ctr"/>
          <a:lstStyle/>
          <a:p>
            <a:pPr indent="0" marL="0">
              <a:buNone/>
            </a:pPr>
            <a:r>
              <a:rPr lang="en-US" sz="1700" i="1" dirty="0">
                <a:solidFill>
                  <a:schemeClr val="accent1"/>
                </a:solidFill>
                <a:latin typeface="Cambria" pitchFamily="34" charset="0"/>
                <a:ea typeface="Cambria" pitchFamily="34" charset="-122"/>
                <a:cs typeface="Cambria" pitchFamily="34" charset="-120"/>
              </a:rPr>
              <a:t>Week 2</a:t>
            </a:r>
            <a:endParaRPr lang="en-US" sz="1700" dirty="0"/>
          </a:p>
        </p:txBody>
      </p:sp>
      <p:sp>
        <p:nvSpPr>
          <p:cNvPr id="14" name="Path what 3"/>
          <p:cNvSpPr txBox="1"/>
          <p:nvPr/>
        </p:nvSpPr>
        <p:spPr>
          <a:xfrm>
            <a:off x="1691640" y="3520440"/>
            <a:ext cx="3246120" cy="640080"/>
          </a:xfrm>
          <a:prstGeom prst="rect">
            <a:avLst/>
          </a:prstGeom>
          <a:noFill/>
          <a:ln/>
        </p:spPr>
        <p:txBody>
          <a:bodyPr wrap="square" lIns="0" tIns="0" rIns="0" bIns="0" rtlCol="0" anchor="ctr"/>
          <a:lstStyle/>
          <a:p>
            <a:pPr indent="0" marL="0">
              <a:buNone/>
            </a:pPr>
            <a:r>
              <a:rPr lang="en-US" sz="1400" dirty="0">
                <a:solidFill>
                  <a:schemeClr val="bg1"/>
                </a:solidFill>
              </a:rPr>
              <a:t>A clash-free timetable your staff can review and edit</a:t>
            </a:r>
            <a:endParaRPr lang="en-US" sz="1400" dirty="0"/>
          </a:p>
        </p:txBody>
      </p:sp>
      <p:sp>
        <p:nvSpPr>
          <p:cNvPr id="15" name="Offer card"/>
          <p:cNvSpPr/>
          <p:nvPr/>
        </p:nvSpPr>
        <p:spPr>
          <a:xfrm>
            <a:off x="5394960" y="1965960"/>
            <a:ext cx="3200400" cy="2514600"/>
          </a:xfrm>
          <a:prstGeom prst="roundRect">
            <a:avLst>
              <a:gd name="adj" fmla="val 6545"/>
            </a:avLst>
          </a:prstGeom>
          <a:solidFill>
            <a:schemeClr val="bg1"/>
          </a:solidFill>
          <a:ln w="12700">
            <a:solidFill>
              <a:schemeClr val="bg1"/>
            </a:solidFill>
            <a:prstDash val="solid"/>
          </a:ln>
        </p:spPr>
      </p:sp>
      <p:sp>
        <p:nvSpPr>
          <p:cNvPr id="16" name="Offer label"/>
          <p:cNvSpPr txBox="1"/>
          <p:nvPr/>
        </p:nvSpPr>
        <p:spPr>
          <a:xfrm>
            <a:off x="5669280" y="2148840"/>
            <a:ext cx="2651760" cy="228600"/>
          </a:xfrm>
          <a:prstGeom prst="rect">
            <a:avLst/>
          </a:prstGeom>
          <a:noFill/>
          <a:ln/>
        </p:spPr>
        <p:txBody>
          <a:bodyPr wrap="square" lIns="0" tIns="0" rIns="0" bIns="0" rtlCol="0" anchor="ctr"/>
          <a:lstStyle/>
          <a:p>
            <a:pPr indent="0" marL="0">
              <a:buNone/>
            </a:pPr>
            <a:r>
              <a:rPr lang="en-US" sz="1000" spc="300" kern="0" dirty="0">
                <a:solidFill>
                  <a:srgbClr val="737373"/>
                </a:solidFill>
              </a:rPr>
              <a:t>START FREE  ·  THEN PRO</a:t>
            </a:r>
            <a:endParaRPr lang="en-US" sz="1000" dirty="0"/>
          </a:p>
        </p:txBody>
      </p:sp>
      <p:sp>
        <p:nvSpPr>
          <p:cNvPr id="17" name="Offer price"/>
          <p:cNvSpPr txBox="1"/>
          <p:nvPr/>
        </p:nvSpPr>
        <p:spPr>
          <a:xfrm>
            <a:off x="5669280" y="2423160"/>
            <a:ext cx="2651760" cy="411480"/>
          </a:xfrm>
          <a:prstGeom prst="rect">
            <a:avLst/>
          </a:prstGeom>
          <a:noFill/>
          <a:ln/>
        </p:spPr>
        <p:txBody>
          <a:bodyPr wrap="square" lIns="0" tIns="0" rIns="0" bIns="0" rtlCol="0" anchor="t"/>
          <a:lstStyle/>
          <a:p>
            <a:pPr indent="0" marL="0">
              <a:buNone/>
            </a:pPr>
            <a:r>
              <a:rPr lang="en-US" sz="2400" i="1" dirty="0">
                <a:solidFill>
                  <a:srgbClr val="059669"/>
                </a:solidFill>
                <a:latin typeface="Cambria" pitchFamily="34" charset="0"/>
                <a:ea typeface="Cambria" pitchFamily="34" charset="-122"/>
                <a:cs typeface="Cambria" pitchFamily="34" charset="-120"/>
              </a:rPr>
              <a:t>₹4,999</a:t>
            </a:r>
            <a:pPr indent="0" marL="0">
              <a:buNone/>
            </a:pPr>
            <a:r>
              <a:rPr lang="en-US" sz="2400" b="1" dirty="0">
                <a:solidFill>
                  <a:schemeClr val="tx1"/>
                </a:solidFill>
                <a:latin typeface="Cambria" pitchFamily="34" charset="0"/>
                <a:ea typeface="Cambria" pitchFamily="34" charset="-122"/>
                <a:cs typeface="Cambria" pitchFamily="34" charset="-120"/>
              </a:rPr>
              <a:t> a year</a:t>
            </a:r>
            <a:endParaRPr lang="en-US" sz="2400" dirty="0"/>
          </a:p>
        </p:txBody>
      </p:sp>
      <p:sp>
        <p:nvSpPr>
          <p:cNvPr id="18" name="Offer body"/>
          <p:cNvSpPr txBox="1"/>
          <p:nvPr/>
        </p:nvSpPr>
        <p:spPr>
          <a:xfrm>
            <a:off x="5669280" y="3063240"/>
            <a:ext cx="2651760" cy="548640"/>
          </a:xfrm>
          <a:prstGeom prst="rect">
            <a:avLst/>
          </a:prstGeom>
          <a:noFill/>
          <a:ln/>
        </p:spPr>
        <p:txBody>
          <a:bodyPr wrap="square" lIns="0" tIns="0" rIns="0" bIns="0" rtlCol="0" anchor="t"/>
          <a:lstStyle/>
          <a:p>
            <a:pPr indent="0" marL="0">
              <a:buNone/>
            </a:pPr>
            <a:r>
              <a:rPr lang="en-US" sz="1400" dirty="0">
                <a:solidFill>
                  <a:srgbClr val="525252"/>
                </a:solidFill>
              </a:rPr>
              <a:t>Under ₹14 a day, for every timetable you need that year. Plus GST.</a:t>
            </a:r>
            <a:endParaRPr lang="en-US" sz="1400" dirty="0"/>
          </a:p>
        </p:txBody>
      </p:sp>
      <p:sp>
        <p:nvSpPr>
          <p:cNvPr id="19" name="Offer button"/>
          <p:cNvSpPr/>
          <p:nvPr/>
        </p:nvSpPr>
        <p:spPr>
          <a:xfrm>
            <a:off x="5669280" y="3611880"/>
            <a:ext cx="2651760" cy="457200"/>
          </a:xfrm>
          <a:prstGeom prst="roundRect">
            <a:avLst>
              <a:gd name="adj" fmla="val 20000"/>
            </a:avLst>
          </a:prstGeom>
          <a:solidFill>
            <a:schemeClr val="tx1"/>
          </a:solidFill>
          <a:ln w="12700">
            <a:solidFill>
              <a:schemeClr val="tx1"/>
            </a:solidFill>
            <a:prstDash val="solid"/>
          </a:ln>
        </p:spPr>
      </p:sp>
      <p:sp>
        <p:nvSpPr>
          <p:cNvPr id="20" name="Offer button text"/>
          <p:cNvSpPr txBox="1"/>
          <p:nvPr/>
        </p:nvSpPr>
        <p:spPr>
          <a:xfrm>
            <a:off x="5669280" y="3611880"/>
            <a:ext cx="2651760" cy="457200"/>
          </a:xfrm>
          <a:prstGeom prst="rect">
            <a:avLst/>
          </a:prstGeom>
          <a:noFill/>
          <a:ln/>
        </p:spPr>
        <p:txBody>
          <a:bodyPr wrap="square" lIns="0" tIns="0" rIns="0" bIns="0" rtlCol="0" anchor="ctr"/>
          <a:lstStyle/>
          <a:p>
            <a:pPr algn="ctr" indent="0" marL="0">
              <a:buNone/>
            </a:pPr>
            <a:r>
              <a:rPr lang="en-US" sz="1400" b="1" dirty="0">
                <a:solidFill>
                  <a:schemeClr val="bg1"/>
                </a:solidFill>
              </a:rPr>
              <a:t>Book a demo · timetablz.com</a:t>
            </a:r>
            <a:endParaRPr lang="en-US" sz="1400" dirty="0"/>
          </a:p>
        </p:txBody>
      </p:sp>
      <p:sp>
        <p:nvSpPr>
          <p:cNvPr id="21" name="Offer contact"/>
          <p:cNvSpPr txBox="1"/>
          <p:nvPr/>
        </p:nvSpPr>
        <p:spPr>
          <a:xfrm>
            <a:off x="5669280" y="4114800"/>
            <a:ext cx="2651760" cy="256032"/>
          </a:xfrm>
          <a:prstGeom prst="rect">
            <a:avLst/>
          </a:prstGeom>
          <a:noFill/>
          <a:ln/>
        </p:spPr>
        <p:txBody>
          <a:bodyPr wrap="square" lIns="0" tIns="0" rIns="0" bIns="0" rtlCol="0" anchor="ctr"/>
          <a:lstStyle/>
          <a:p>
            <a:pPr algn="ctr" indent="0" marL="0">
              <a:buNone/>
            </a:pPr>
            <a:r>
              <a:rPr lang="en-US" sz="1000" dirty="0">
                <a:solidFill>
                  <a:srgbClr val="737373"/>
                </a:solidFill>
              </a:rPr>
              <a:t>support@timetablz.com</a:t>
            </a:r>
            <a:endParaRPr lang="en-US" sz="1000" dirty="0"/>
          </a:p>
        </p:txBody>
      </p:sp>
    </p:spTree>
  </p:cSld>
  <p:clrMapOvr>
    <a:masterClrMapping/>
  </p:clrMapOvr>
</p:sld>
</file>

<file path=ppt/theme/theme1.xml><?xml version="1.0" encoding="utf-8"?>
<a:theme xmlns:a="http://schemas.openxmlformats.org/drawingml/2006/main" name="Timetablz Night">
  <a:themeElements>
    <a:clrScheme name="Timetablz Night">
      <a:dk1>
        <a:srgbClr val="0A0A0A"/>
      </a:dk1>
      <a:lt1>
        <a:srgbClr val="F5F5F4"/>
      </a:lt1>
      <a:dk2>
        <a:srgbClr val="1A1A1A"/>
      </a:dk2>
      <a:lt2>
        <a:srgbClr val="A3A3A3"/>
      </a:lt2>
      <a:accent1>
        <a:srgbClr val="34D399"/>
      </a:accent1>
      <a:accent2>
        <a:srgbClr val="F87171"/>
      </a:accent2>
      <a:accent3>
        <a:srgbClr val="FBBF24"/>
      </a:accent3>
      <a:accent4>
        <a:srgbClr val="60A5FA"/>
      </a:accent4>
      <a:accent5>
        <a:srgbClr val="A78BFA"/>
      </a:accent5>
      <a:accent6>
        <a:srgbClr val="333333"/>
      </a:accent6>
      <a:hlink>
        <a:srgbClr val="60A5FA"/>
      </a:hlink>
      <a:folHlink>
        <a:srgbClr val="A78BFA"/>
      </a:folHlink>
    </a:clrScheme>
    <a:fontScheme name="Timetablz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Valkyrie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Timetablz sales deck</dc:title>
  <dc:subject>PptxGenJS Presentation</dc:subject>
  <dc:creator>Valkyrie Labs</dc:creator>
  <cp:lastModifiedBy>Valkyrie Labs</cp:lastModifiedBy>
  <cp:revision>1</cp:revision>
  <dcterms:created xsi:type="dcterms:W3CDTF">2026-10-10T11:46:07Z</dcterms:created>
  <dcterms:modified xsi:type="dcterms:W3CDTF">2026-10-10T11:46:07Z</dcterms:modified>
</cp:coreProperties>
</file>